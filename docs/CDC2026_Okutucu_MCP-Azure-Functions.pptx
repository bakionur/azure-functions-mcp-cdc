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3" r:id="rId14"/>
    <p:sldId id="264" r:id="rId15"/>
    <p:sldId id="265" r:id="rId16"/>
    <p:sldId id="266" r:id="rId17"/>
    <p:sldId id="267" r:id="rId18"/>
    <p:sldId id="268" r:id="rId19"/>
    <p:sldId id="271" r:id="rId22"/>
    <p:sldId id="273" r:id="rId24"/>
    <p:sldId id="272" r:id="rId23"/>
    <p:sldId id="269" r:id="rId20"/>
    <p:sldId id="270" r:id="rId21"/>
    <p:sldId id="274" r:id="rId25"/>
    <p:sldId id="277" r:id="rId28"/>
    <p:sldId id="276" r:id="rId27"/>
    <p:sldId id="285" r:id="rId36"/>
    <p:sldId id="275" r:id="rId26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7.xml"/><Relationship Id="rId23" Type="http://schemas.openxmlformats.org/officeDocument/2006/relationships/slide" Target="slides/slide9.xml"/><Relationship Id="rId24" Type="http://schemas.openxmlformats.org/officeDocument/2006/relationships/slide" Target="slides/slide8.xml"/><Relationship Id="rId25" Type="http://schemas.openxmlformats.org/officeDocument/2006/relationships/slide" Target="slides/slide12.xml"/><Relationship Id="rId26" Type="http://schemas.openxmlformats.org/officeDocument/2006/relationships/slide" Target="slides/slide16.xml"/><Relationship Id="rId27" Type="http://schemas.openxmlformats.org/officeDocument/2006/relationships/slide" Target="slides/slide14.xml"/><Relationship Id="rId28" Type="http://schemas.openxmlformats.org/officeDocument/2006/relationships/slide" Target="slides/slide13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6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Relationship Id="rId7" Type="http://schemas.openxmlformats.org/officeDocument/2006/relationships/image" Target="../media/image2.png"/><Relationship Id="rId8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DC-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420624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32918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5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5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4846320" y="329184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76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Sept - 01 Oct 2026 · Congress Park Hanau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57200" y="14447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57200" y="1700784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3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Building External MCP Servers with Azure Functions</a:t>
            </a:r>
            <a:endParaRPr lang="en-US" sz="3100" dirty="0"/>
          </a:p>
        </p:txBody>
      </p:sp>
      <p:pic>
        <p:nvPicPr>
          <p:cNvPr id="7" name="Image 1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401568"/>
            <a:ext cx="822960" cy="5029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35661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Onur Okutucu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457200" y="39136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F76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MVP (Azure &amp; AI Foundry) · MCT · CTO, Collabix AI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57200" y="4261104"/>
            <a:ext cx="2212848" cy="338328"/>
          </a:xfrm>
          <a:prstGeom prst="roundRect">
            <a:avLst>
              <a:gd name="adj" fmla="val 48649"/>
            </a:avLst>
          </a:prstGeom>
          <a:solidFill>
            <a:srgbClr val="FBE9DF"/>
          </a:solidFill>
          <a:ln/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457200" y="4261104"/>
            <a:ext cx="22128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23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Thursday · 10:15-11:00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016752" y="1298448"/>
            <a:ext cx="265176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pic>
        <p:nvPicPr>
          <p:cNvPr id="13" name="Image 2" descr="Onur Okutucu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6752" y="1298448"/>
            <a:ext cx="2651760" cy="29260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00800" y="46908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76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cdc-germany.de</a:t>
            </a:r>
            <a:endParaRPr lang="en-US" sz="1000" dirty="0"/>
          </a:p>
        </p:txBody>
      </p:sp>
      <p:pic>
        <p:nvPicPr>
          <p:cNvPr id="15" name="Image 3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DC-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420624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32918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5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5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4846320" y="329184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76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Sept - 01 Oct 2026 · Congress Park Hanau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5720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57200" y="21762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agent is exactly as useful as the tools it can reach.</a:t>
            </a:r>
            <a:endParaRPr lang="en-US" sz="3400" dirty="0"/>
          </a:p>
        </p:txBody>
      </p:sp>
      <p:pic>
        <p:nvPicPr>
          <p:cNvPr id="7" name="Image 1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63240"/>
            <a:ext cx="822960" cy="5029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3246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76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LLMs read. MCP lets them do. Azure Functions makes the doing cheap, secure and boring to operate.</a:t>
            </a:r>
            <a:endParaRPr lang="en-US" sz="1300" dirty="0"/>
          </a:p>
        </p:txBody>
      </p:sp>
      <p:pic>
        <p:nvPicPr>
          <p:cNvPr id="9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next 45 minutes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234440"/>
            <a:ext cx="1920240" cy="292608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1554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E1571E"/>
                </a:solidFill>
                <a:latin typeface="Segoe U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15544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MCP in five minutes</a:t>
            </a:r>
          </a:p>
          <a:p>
            <a:pPr algn="l"/>
            <a:r>
              <a:rPr sz="1100" b="0">
                <a:solidFill>
                  <a:srgbClr val="6F7682"/>
                </a:solidFill>
                <a:latin typeface="Segoe UI"/>
              </a:rPr>
              <a:t>Hosts, clients, servers, and why "external" changes everything.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234440"/>
            <a:ext cx="1920240" cy="292608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743200" y="1417320"/>
            <a:ext cx="1554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E1571E"/>
                </a:solidFill>
                <a:latin typeface="Segoe U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148840"/>
            <a:ext cx="15544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Why Azure Functions</a:t>
            </a:r>
          </a:p>
          <a:p>
            <a:pPr algn="l"/>
            <a:r>
              <a:rPr sz="1100" b="0">
                <a:solidFill>
                  <a:srgbClr val="6F7682"/>
                </a:solidFill>
                <a:latin typeface="Segoe UI"/>
              </a:rPr>
              <a:t>Scale-to-zero, bindings, built-in auth. Two ways to host.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1234440"/>
            <a:ext cx="1920240" cy="292608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46320" y="1417320"/>
            <a:ext cx="1554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E1571E"/>
                </a:solidFill>
                <a:latin typeface="Segoe U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148840"/>
            <a:ext cx="15544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Four demos, live</a:t>
            </a:r>
          </a:p>
          <a:p>
            <a:pPr algn="l"/>
            <a:r>
              <a:rPr sz="1100" b="0">
                <a:solidFill>
                  <a:srgbClr val="6F7682"/>
                </a:solidFill>
                <a:latin typeface="Segoe UI"/>
              </a:rPr>
              <a:t>One file, two homes → MCP Apps → Entra end to end → API Center + Foundry.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59" y="1234440"/>
            <a:ext cx="1920240" cy="292608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949440" y="1417320"/>
            <a:ext cx="1554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E1571E"/>
                </a:solidFill>
                <a:latin typeface="Segoe U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148840"/>
            <a:ext cx="15544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Take it home</a:t>
            </a:r>
          </a:p>
          <a:p>
            <a:pPr algn="l"/>
            <a:r>
              <a:rPr sz="1100" b="0">
                <a:solidFill>
                  <a:srgbClr val="6F7682"/>
                </a:solidFill>
                <a:latin typeface="Segoe UI"/>
              </a:rPr>
              <a:t>Production notes, the cheat sheet, and a repo you can azd up tonight.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in one picture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325880"/>
            <a:ext cx="2423160" cy="2011680"/>
          </a:xfrm>
          <a:prstGeom prst="roundRect">
            <a:avLst>
              <a:gd name="adj" fmla="val 6000"/>
            </a:avLst>
          </a:prstGeom>
          <a:solidFill>
            <a:srgbClr val="23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21792" y="1472184"/>
            <a:ext cx="2093976" cy="1719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F5B08A"/>
                </a:solidFill>
                <a:latin typeface="Segoe UI"/>
              </a:rPr>
              <a:t>HOST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The app with the model</a:t>
            </a:r>
          </a:p>
          <a:p>
            <a:pPr algn="l"/>
            <a:r>
              <a:rPr sz="1150" b="0">
                <a:solidFill>
                  <a:srgbClr val="C9CDD6"/>
                </a:solidFill>
                <a:latin typeface="Segoe UI"/>
              </a:rPr>
              <a:t>VS Code &amp; Copilot, Claude, M365 Copilot, Foundry agents, your own app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944368" y="2194560"/>
            <a:ext cx="411480" cy="292608"/>
          </a:xfrm>
          <a:prstGeom prst="rightArrow">
            <a:avLst/>
          </a:prstGeom>
          <a:solidFill>
            <a:srgbClr val="E1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83280" y="1325880"/>
            <a:ext cx="2423160" cy="201168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47872" y="1472184"/>
            <a:ext cx="2093976" cy="1719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CLIENT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3262E"/>
                </a:solidFill>
                <a:latin typeface="Segoe UI"/>
              </a:rPr>
              <a:t>One per server</a:t>
            </a:r>
          </a:p>
          <a:p>
            <a:pPr algn="l"/>
            <a:r>
              <a:rPr sz="1150" b="0">
                <a:solidFill>
                  <a:srgbClr val="6F7682"/>
                </a:solidFill>
                <a:latin typeface="Segoe UI"/>
              </a:rPr>
              <a:t>Speaks the protocol: JSON-RPC over stdio or Streamable HTTP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870448" y="2194560"/>
            <a:ext cx="411480" cy="292608"/>
          </a:xfrm>
          <a:prstGeom prst="rightArrow">
            <a:avLst/>
          </a:prstGeom>
          <a:solidFill>
            <a:srgbClr val="E1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09360" y="1325880"/>
            <a:ext cx="2423160" cy="2011680"/>
          </a:xfrm>
          <a:prstGeom prst="roundRect">
            <a:avLst>
              <a:gd name="adj" fmla="val 6000"/>
            </a:avLst>
          </a:prstGeom>
          <a:solidFill>
            <a:srgbClr val="E1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73952" y="1472184"/>
            <a:ext cx="2093976" cy="1719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FBE9DF"/>
                </a:solidFill>
                <a:latin typeface="Segoe UI"/>
              </a:rPr>
              <a:t>SERVER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Your code, today</a:t>
            </a:r>
          </a:p>
          <a:p>
            <a:pPr algn="l"/>
            <a:r>
              <a:rPr sz="1150" b="0">
                <a:solidFill>
                  <a:srgbClr val="FBE9DF"/>
                </a:solidFill>
                <a:latin typeface="Segoe UI"/>
              </a:rPr>
              <a:t>Tools (verbs) · Resources (nouns) · Prompts (templates) · MCP Apps (UI)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1188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3262E"/>
                </a:solidFill>
                <a:latin typeface="Segoe UI"/>
              </a:rPr>
              <a:t>One protocol, any model, any client. Write the server once; every agent in the company can use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is a demo. External is a product.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8229600" cy="2743200"/>
        </p:xfrm>
        <a:graphic>
          <a:graphicData uri="http://schemas.openxmlformats.org/drawingml/2006/table">
            <a:tbl bandRow="0" firstRow="0">
              <a:tblPr firstRow="1" bandRow="1">
                <a:tableStyleId>{5C22544A-7EE6-4342-B048-85BDC9FD1C3A}</a:tableStyleId>
              </a:tblPr>
              <a:tblGrid>
                <a:gridCol w="1737360"/>
                <a:gridCol w="3017520"/>
                <a:gridCol w="347472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3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Local MCP server</a:t>
                      </a:r>
                    </a:p>
                  </a:txBody>
                  <a:tcPr marL="91440" marR="91440" marT="45720" marB="45720" anchor="ctr">
                    <a:solidFill>
                      <a:srgbClr val="23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External (remote) MCP server</a:t>
                      </a:r>
                    </a:p>
                  </a:txBody>
                  <a:tcPr marL="91440" marR="91440" marT="45720" marB="45720" anchor="ctr">
                    <a:solidFill>
                      <a:srgbClr val="23262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3262E"/>
                          </a:solidFill>
                          <a:latin typeface="Segoe UI"/>
                        </a:rPr>
                        <a:t>Transport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3262E"/>
                          </a:solidFill>
                          <a:latin typeface="Segoe UI"/>
                        </a:rPr>
                        <a:t>stdio: a process on your laptop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3262E"/>
                          </a:solidFill>
                          <a:latin typeface="Segoe UI"/>
                        </a:rPr>
                        <a:t>Streamable HTTP: an endpoint in the cloud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3262E"/>
                          </a:solidFill>
                          <a:latin typeface="Segoe UI"/>
                        </a:rPr>
                        <a:t>Who can use 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3262E"/>
                          </a:solidFill>
                          <a:latin typeface="Segoe UI"/>
                        </a:rPr>
                        <a:t>You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3262E"/>
                          </a:solidFill>
                          <a:latin typeface="Segoe UI"/>
                        </a:rPr>
                        <a:t>Your team, your company, your customers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3262E"/>
                          </a:solidFill>
                          <a:latin typeface="Segoe UI"/>
                        </a:rPr>
                        <a:t>Secrets live in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3262E"/>
                          </a:solidFill>
                          <a:latin typeface="Segoe UI"/>
                        </a:rPr>
                        <a:t>Environment variables and hope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3262E"/>
                          </a:solidFill>
                          <a:latin typeface="Segoe UI"/>
                        </a:rPr>
                        <a:t>Managed identity, Key Vault, Entra tokens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3262E"/>
                          </a:solidFill>
                          <a:latin typeface="Segoe UI"/>
                        </a:rPr>
                        <a:t>Caller identity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3262E"/>
                          </a:solidFill>
                          <a:latin typeface="Segoe UI"/>
                        </a:rPr>
                        <a:t>Whoever is at the keyboard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3262E"/>
                          </a:solidFill>
                          <a:latin typeface="Segoe UI"/>
                        </a:rPr>
                        <a:t>A real user or app, verified per request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3262E"/>
                          </a:solidFill>
                          <a:latin typeface="Segoe UI"/>
                        </a:rPr>
                        <a:t>Scaling &amp; ops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3262E"/>
                          </a:solidFill>
                          <a:latin typeface="Segoe UI"/>
                        </a:rPr>
                        <a:t>Restart it when it dies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3262E"/>
                          </a:solidFill>
                          <a:latin typeface="Segoe UI"/>
                        </a:rPr>
                        <a:t>Scales on demand; logs, alerts, versions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Azure Functions for MCP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23444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21792" y="1380744"/>
            <a:ext cx="3694176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Scale to zero, scale to many</a:t>
            </a:r>
          </a:p>
          <a:p>
            <a:pPr algn="l"/>
            <a:r>
              <a:rPr sz="1150" b="0">
                <a:solidFill>
                  <a:srgbClr val="6F7682"/>
                </a:solidFill>
                <a:latin typeface="Segoe UI"/>
              </a:rPr>
              <a:t>Flex Consumption bills per execution. A server nobody calls costs nothing; one everybody calls just grows.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23444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828031" y="1380744"/>
            <a:ext cx="3694176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A tool is a function</a:t>
            </a:r>
          </a:p>
          <a:p>
            <a:pPr algn="l"/>
            <a:r>
              <a:rPr sz="1150" b="0">
                <a:solidFill>
                  <a:srgbClr val="6F7682"/>
                </a:solidFill>
                <a:latin typeface="Segoe UI"/>
              </a:rPr>
              <a:t>Triggers and bindings you already know. Blob, Cosmos DB, Service Bus, SQL: one decorator away from any tool.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83464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1792" y="2980944"/>
            <a:ext cx="3694176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Auth is built in</a:t>
            </a:r>
          </a:p>
          <a:p>
            <a:pPr algn="l"/>
            <a:r>
              <a:rPr sz="1150" b="0">
                <a:solidFill>
                  <a:srgbClr val="6F7682"/>
                </a:solidFill>
                <a:latin typeface="Segoe UI"/>
              </a:rPr>
              <a:t>Entra ID login per the MCP auth spec, no middleware to write. Keys for dev, OAuth for anything shared.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83464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28031" y="2980944"/>
            <a:ext cx="3694176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Enterprise plumbing included</a:t>
            </a:r>
          </a:p>
          <a:p>
            <a:pPr algn="l"/>
            <a:r>
              <a:rPr sz="1150" b="0">
                <a:solidFill>
                  <a:srgbClr val="6F7682"/>
                </a:solidFill>
                <a:latin typeface="Segoe UI"/>
              </a:rPr>
              <a:t>VNET integration, API Management in front, App Insights behind. Your platform team already approved all of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demo: four acts, one story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8229600" cy="2834640"/>
        </p:xfrm>
        <a:graphic>
          <a:graphicData uri="http://schemas.openxmlformats.org/drawingml/2006/table">
            <a:tbl bandRow="0" firstRow="0">
              <a:tblPr firstRow="1" bandRow="1">
                <a:tableStyleId>{5C22544A-7EE6-4342-B048-85BDC9FD1C3A}</a:tableStyleId>
              </a:tblPr>
              <a:tblGrid>
                <a:gridCol w="365760"/>
                <a:gridCol w="1234440"/>
                <a:gridCol w="1600200"/>
                <a:gridCol w="2743200"/>
                <a:gridCol w="228600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marL="91440" marR="91440" marT="45720" marB="45720" anchor="ctr">
                    <a:solidFill>
                      <a:srgbClr val="23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Server</a:t>
                      </a:r>
                    </a:p>
                  </a:txBody>
                  <a:tcPr marL="91440" marR="91440" marT="45720" marB="45720" anchor="ctr">
                    <a:solidFill>
                      <a:srgbClr val="23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Runs on</a:t>
                      </a:r>
                    </a:p>
                  </a:txBody>
                  <a:tcPr marL="91440" marR="91440" marT="45720" marB="45720" anchor="ctr">
                    <a:solidFill>
                      <a:srgbClr val="23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What you'll see</a:t>
                      </a:r>
                    </a:p>
                  </a:txBody>
                  <a:tcPr marL="91440" marR="91440" marT="45720" marB="45720" anchor="ctr">
                    <a:solidFill>
                      <a:srgbClr val="23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Why it's here</a:t>
                      </a:r>
                    </a:p>
                  </a:txBody>
                  <a:tcPr marL="91440" marR="91440" marT="45720" marB="45720" anchor="ctr">
                    <a:solidFill>
                      <a:srgbClr val="23262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62E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concierge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Laptop (stdio) and Functions (self-hosted)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The same file answers 'where is lunch?' from the live CDC agenda, twice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Bring any MCP SDK server: the self-hosted model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62E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skywatch · domainforge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Functions (MCP extension)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A live radar in the chat; a domain picker whose Reserve button writes to Blob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MCP Apps, call-back into the server, output binding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62E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adopilot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Functions + built-in Entra auth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401 → sign-in → whoami → sprint board and a bug created as me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On-behalf-of to Graph and Azure DevOps, no secrets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62E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all four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API Center + Foundry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A private MCP registry; a Foundry agent using the same servers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Discovery and reuse, with approval for writes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1 · One file, two lives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234440"/>
            <a:ext cx="4206240" cy="3108960"/>
          </a:xfrm>
          <a:prstGeom prst="roundRect">
            <a:avLst>
              <a:gd name="adj" fmla="val 4000"/>
            </a:avLst>
          </a:prstGeom>
          <a:solidFill>
            <a:srgbClr val="23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" y="1380744"/>
            <a:ext cx="3840479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F5B08A"/>
                </a:solidFill>
                <a:latin typeface="Consolas"/>
              </a:rPr>
              <a:t>from mcp.server.mcpserver import MCPServer</a:t>
            </a:r>
          </a:p>
          <a:p>
            <a:pPr algn="l"/>
            <a:r>
              <a:rPr sz="1050" b="0">
                <a:solidFill>
                  <a:srgbClr val="FBF4EC"/>
                </a:solidFill>
                <a:latin typeface="Consolas"/>
              </a:rPr>
              <a:t>mcp = MCPServer("cdc-concierge")</a:t>
            </a:r>
          </a:p>
          <a:p>
            <a:pPr algn="l"/>
            <a:r>
              <a:rPr sz="1050" b="0">
                <a:solidFill>
                  <a:srgbClr val="FBF4EC"/>
                </a:solidFill>
                <a:latin typeface="Consolas"/>
              </a:rPr>
              <a:t/>
            </a:r>
          </a:p>
          <a:p>
            <a:pPr algn="l"/>
            <a:r>
              <a:rPr sz="1050" b="0">
                <a:solidFill>
                  <a:srgbClr val="F5B08A"/>
                </a:solidFill>
                <a:latin typeface="Consolas"/>
              </a:rPr>
              <a:t>@mcp.tool()</a:t>
            </a:r>
          </a:p>
          <a:p>
            <a:pPr algn="l"/>
            <a:r>
              <a:rPr sz="1050" b="0">
                <a:solidFill>
                  <a:srgbClr val="F5B08A"/>
                </a:solidFill>
                <a:latin typeface="Consolas"/>
              </a:rPr>
              <a:t>def breaks(kind: str = "") -&gt; dict:</a:t>
            </a:r>
          </a:p>
          <a:p>
            <a:pPr algn="l"/>
            <a:r>
              <a:rPr sz="1050" b="0">
                <a:solidFill>
                  <a:srgbClr val="7FD3C9"/>
                </a:solidFill>
                <a:latin typeface="Consolas"/>
              </a:rPr>
              <a:t>    """Lunch, coffee, evening: when &amp; where."""</a:t>
            </a:r>
          </a:p>
          <a:p>
            <a:pPr algn="l"/>
            <a:r>
              <a:rPr sz="1050" b="0">
                <a:solidFill>
                  <a:srgbClr val="FBF4EC"/>
                </a:solidFill>
                <a:latin typeface="Consolas"/>
              </a:rPr>
              <a:t>    return lookup(live_agenda(), kind)</a:t>
            </a:r>
          </a:p>
          <a:p>
            <a:pPr algn="l"/>
            <a:r>
              <a:rPr sz="1050" b="0">
                <a:solidFill>
                  <a:srgbClr val="FBF4EC"/>
                </a:solidFill>
                <a:latin typeface="Consolas"/>
              </a:rPr>
              <a:t/>
            </a:r>
          </a:p>
          <a:p>
            <a:pPr algn="l"/>
            <a:r>
              <a:rPr sz="1050" b="0">
                <a:solidFill>
                  <a:srgbClr val="FBF4EC"/>
                </a:solidFill>
                <a:latin typeface="Consolas"/>
              </a:rPr>
              <a:t>mcp.run()  # stdio locally · HTTP on Functions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1234440"/>
            <a:ext cx="37490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E1571E"/>
                </a:solidFill>
                <a:latin typeface="Segoe UI"/>
              </a:rPr>
              <a:t>1  Open local/server.py: MCP SDK, live agenda.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984248"/>
            <a:ext cx="37490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E1571E"/>
                </a:solidFill>
                <a:latin typeface="Segoe UI"/>
              </a:rPr>
              <a:t>2  Local: "Where is Onur's session? Lunch?"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734056"/>
            <a:ext cx="37490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E1571E"/>
                </a:solidFill>
                <a:latin typeface="Segoe UI"/>
              </a:rPr>
              <a:t>3  Show host.json → azd deploy concierge.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483863"/>
            <a:ext cx="37490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E1571E"/>
                </a:solidFill>
                <a:latin typeface="Segoe UI"/>
              </a:rPr>
              <a:t>4  Remote: same answer, on Azure Functions.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ways to host an MCP server on Functions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23444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23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MCP extension (today's pick)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618488"/>
            <a:ext cx="3977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Tool, resource and prompt triggers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.NET, Java, Python, TypeScript, JavaScript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Apps: tools that return interactive UI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Functions speaks the protocol for you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Built-in auth, system keys, host.json config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MCP endpoint per function app: /runtime/webhooks/mcp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709160" y="123444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23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Self-hosted SDK server (preview)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709160" y="1618488"/>
            <a:ext cx="3977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Bring an existing FastMCP / SDK server as-is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code changes: runs as a custom handler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Stateless, Streamable HTTP servers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Python, TypeScript, .NET, Java samples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Flex plan, same built-in auth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Best when the server already exists</a:t>
            </a:r>
            <a:endParaRPr lang="en-US" sz="1400" dirty="0"/>
          </a:p>
        </p:txBody>
      </p:sp>
      <p:pic>
        <p:nvPicPr>
          <p:cNvPr id="8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10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extension's building blocks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234440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21792" y="1371600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E1571E"/>
                </a:solidFill>
                <a:latin typeface="Consolas"/>
              </a:rPr>
              <a:t>mcp_tool()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783080"/>
            <a:ext cx="1600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Tool = verb</a:t>
            </a:r>
          </a:p>
          <a:p>
            <a:pPr algn="l"/>
            <a:r>
              <a:rPr sz="1100" b="0">
                <a:solidFill>
                  <a:srgbClr val="6F7682"/>
                </a:solidFill>
                <a:latin typeface="Segoe UI"/>
              </a:rPr>
              <a:t>The agent calls it with arguments. Typed parameters become the JSON schema; the docstring is the description.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234440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724912" y="1371600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A9A8F"/>
                </a:solidFill>
                <a:latin typeface="Consolas"/>
              </a:rPr>
              <a:t>mcp_resource_trigger()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24912" y="1783080"/>
            <a:ext cx="1600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Resource = noun</a:t>
            </a:r>
          </a:p>
          <a:p>
            <a:pPr algn="l"/>
            <a:r>
              <a:rPr sz="1100" b="0">
                <a:solidFill>
                  <a:srgbClr val="6F7682"/>
                </a:solidFill>
                <a:latin typeface="Segoe UI"/>
              </a:rPr>
              <a:t>Data the agent reads by URI: runbooks, configs, a Definition of Done, airports nearby.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1234440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28031" y="1371600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3262E"/>
                </a:solidFill>
                <a:latin typeface="Consolas"/>
              </a:rPr>
              <a:t>mcp_prompt_trigger()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28031" y="1783080"/>
            <a:ext cx="1600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Prompt = template</a:t>
            </a:r>
          </a:p>
          <a:p>
            <a:pPr algn="l"/>
            <a:r>
              <a:rPr sz="1100" b="0">
                <a:solidFill>
                  <a:srgbClr val="6F7682"/>
                </a:solidFill>
                <a:latin typeface="Segoe UI"/>
              </a:rPr>
              <a:t>Reusable instructions served by the server (/standup, /plane_spotter) as slash commands in the client.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59" y="1234440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931151" y="1371600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B23A1E"/>
                </a:solidFill>
                <a:latin typeface="Consolas"/>
              </a:rPr>
              <a:t>ui:// + tool metadata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31151" y="1783080"/>
            <a:ext cx="1600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MCP Apps = UI</a:t>
            </a:r>
          </a:p>
          <a:p>
            <a:pPr algn="l"/>
            <a:r>
              <a:rPr sz="1100" b="0">
                <a:solidFill>
                  <a:srgbClr val="6F7682"/>
                </a:solidFill>
                <a:latin typeface="Segoe UI"/>
              </a:rPr>
              <a:t>A tool returns an interactive panel instead of a wall of JSON. Renders in VS Code, Claude, M365 Copilot.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tool is just a function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234440"/>
            <a:ext cx="5394960" cy="3108960"/>
          </a:xfrm>
          <a:prstGeom prst="roundRect">
            <a:avLst>
              <a:gd name="adj" fmla="val 4000"/>
            </a:avLst>
          </a:prstGeom>
          <a:solidFill>
            <a:srgbClr val="23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" y="1380744"/>
            <a:ext cx="502920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A9099"/>
                </a:solidFill>
                <a:latin typeface="Consolas"/>
              </a:rPr>
              <a:t># Python · Azure Functions MCP extension (azure-functions ≥ 2.0)</a:t>
            </a:r>
          </a:p>
          <a:p>
            <a:pPr algn="l"/>
            <a:r>
              <a:rPr sz="1000" b="0">
                <a:solidFill>
                  <a:srgbClr val="FBF4EC"/>
                </a:solidFill>
                <a:latin typeface="Consolas"/>
              </a:rPr>
              <a:t>@app.</a:t>
            </a:r>
            <a:r>
              <a:rPr sz="1000" b="0">
                <a:solidFill>
                  <a:srgbClr val="F5B08A"/>
                </a:solidFill>
                <a:latin typeface="Consolas"/>
              </a:rPr>
              <a:t>mcp_tool</a:t>
            </a:r>
            <a:r>
              <a:rPr sz="1000" b="0">
                <a:solidFill>
                  <a:srgbClr val="FBF4EC"/>
                </a:solidFill>
                <a:latin typeface="Consolas"/>
              </a:rPr>
              <a:t>(metadata=RADAR_UI)</a:t>
            </a:r>
          </a:p>
          <a:p>
            <a:pPr algn="l"/>
            <a:r>
              <a:rPr sz="1000" b="0">
                <a:solidFill>
                  <a:srgbClr val="FBF4EC"/>
                </a:solidFill>
                <a:latin typeface="Consolas"/>
              </a:rPr>
              <a:t>@app.</a:t>
            </a:r>
            <a:r>
              <a:rPr sz="1000" b="0">
                <a:solidFill>
                  <a:srgbClr val="F5B08A"/>
                </a:solidFill>
                <a:latin typeface="Consolas"/>
              </a:rPr>
              <a:t>mcp_tool_property</a:t>
            </a:r>
            <a:r>
              <a:rPr sz="1000" b="0">
                <a:solidFill>
                  <a:srgbClr val="FBF4EC"/>
                </a:solidFill>
                <a:latin typeface="Consolas"/>
              </a:rPr>
              <a:t>(arg_name=</a:t>
            </a:r>
            <a:r>
              <a:rPr sz="1000" b="0">
                <a:solidFill>
                  <a:srgbClr val="7FD3C9"/>
                </a:solidFill>
                <a:latin typeface="Consolas"/>
              </a:rPr>
              <a:t>"radius_nm"</a:t>
            </a:r>
            <a:r>
              <a:rPr sz="1000" b="0">
                <a:solidFill>
                  <a:srgbClr val="FBF4EC"/>
                </a:solidFill>
                <a:latin typeface="Consolas"/>
              </a:rPr>
              <a:t>,</a:t>
            </a:r>
          </a:p>
          <a:p>
            <a:pPr algn="l"/>
            <a:r>
              <a:rPr sz="1000" b="0">
                <a:solidFill>
                  <a:srgbClr val="FBF4EC"/>
                </a:solidFill>
                <a:latin typeface="Consolas"/>
              </a:rPr>
              <a:t>    description=</a:t>
            </a:r>
            <a:r>
              <a:rPr sz="1000" b="0">
                <a:solidFill>
                  <a:srgbClr val="7FD3C9"/>
                </a:solidFill>
                <a:latin typeface="Consolas"/>
              </a:rPr>
              <a:t>"Search radius in NM (default 25)"</a:t>
            </a:r>
            <a:r>
              <a:rPr sz="1000" b="0">
                <a:solidFill>
                  <a:srgbClr val="FBF4EC"/>
                </a:solidFill>
                <a:latin typeface="Consolas"/>
              </a:rPr>
              <a:t>)</a:t>
            </a:r>
          </a:p>
          <a:p>
            <a:pPr algn="l"/>
            <a:r>
              <a:rPr sz="1000" b="0">
                <a:solidFill>
                  <a:srgbClr val="F5B08A"/>
                </a:solidFill>
                <a:latin typeface="Consolas"/>
              </a:rPr>
              <a:t>def </a:t>
            </a:r>
            <a:r>
              <a:rPr sz="1000" b="0">
                <a:solidFill>
                  <a:srgbClr val="FBF4EC"/>
                </a:solidFill>
                <a:latin typeface="Consolas"/>
              </a:rPr>
              <a:t>flights_overhead</a:t>
            </a:r>
            <a:r>
              <a:rPr sz="1000" b="0">
                <a:solidFill>
                  <a:srgbClr val="FBF4EC"/>
                </a:solidFill>
                <a:latin typeface="Consolas"/>
              </a:rPr>
              <a:t>(radius_nm: int = 25) -&gt; CallToolResult:</a:t>
            </a:r>
          </a:p>
          <a:p>
            <a:pPr algn="l"/>
            <a:r>
              <a:rPr sz="1000" b="0">
                <a:solidFill>
                  <a:srgbClr val="7FD3C9"/>
                </a:solidFill>
                <a:latin typeface="Consolas"/>
              </a:rPr>
              <a:t>    """What is flying over us right now? Live ADS-B positions."""</a:t>
            </a:r>
          </a:p>
          <a:p>
            <a:pPr algn="l"/>
            <a:r>
              <a:rPr sz="1000" b="0">
                <a:solidFill>
                  <a:srgbClr val="FBF4EC"/>
                </a:solidFill>
                <a:latin typeface="Consolas"/>
              </a:rPr>
              <a:t>    aircraft = fetch_adsb(HOME_LAT, HOME_LON, radius_nm)</a:t>
            </a:r>
          </a:p>
          <a:p>
            <a:pPr algn="l"/>
            <a:r>
              <a:rPr sz="1000" b="0">
                <a:solidFill>
                  <a:srgbClr val="F5B08A"/>
                </a:solidFill>
                <a:latin typeface="Consolas"/>
              </a:rPr>
              <a:t>    return </a:t>
            </a:r>
            <a:r>
              <a:rPr sz="1000" b="0">
                <a:solidFill>
                  <a:srgbClr val="FBF4EC"/>
                </a:solidFill>
                <a:latin typeface="Consolas"/>
              </a:rPr>
              <a:t>CallToolResult(</a:t>
            </a:r>
          </a:p>
          <a:p>
            <a:pPr algn="l"/>
            <a:r>
              <a:rPr sz="1000" b="0">
                <a:solidFill>
                  <a:srgbClr val="FBF4EC"/>
                </a:solidFill>
                <a:latin typeface="Consolas"/>
              </a:rPr>
              <a:t>        content=[TextContent(text=summary(aircraft))],</a:t>
            </a:r>
          </a:p>
          <a:p>
            <a:pPr algn="l"/>
            <a:r>
              <a:rPr sz="1000" b="0">
                <a:solidFill>
                  <a:srgbClr val="FBF4EC"/>
                </a:solidFill>
                <a:latin typeface="Consolas"/>
              </a:rPr>
              <a:t>        structured_content={</a:t>
            </a:r>
            <a:r>
              <a:rPr sz="1000" b="0">
                <a:solidFill>
                  <a:srgbClr val="7FD3C9"/>
                </a:solidFill>
                <a:latin typeface="Consolas"/>
              </a:rPr>
              <a:t>"aircraft"</a:t>
            </a:r>
            <a:r>
              <a:rPr sz="1000" b="0">
                <a:solidFill>
                  <a:srgbClr val="FBF4EC"/>
                </a:solidFill>
                <a:latin typeface="Consolas"/>
              </a:rPr>
              <a:t>: aircraft})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234440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199631" y="1380744"/>
            <a:ext cx="2322576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3262E"/>
                </a:solidFill>
                <a:latin typeface="Segoe UI"/>
              </a:rPr>
              <a:t>Decorator = manifest</a:t>
            </a:r>
          </a:p>
          <a:p>
            <a:pPr algn="l"/>
            <a:r>
              <a:rPr sz="1050" b="0">
                <a:solidFill>
                  <a:srgbClr val="6F7682"/>
                </a:solidFill>
                <a:latin typeface="Segoe UI"/>
              </a:rPr>
              <a:t>Name and description are what the model reads. Write them for the model.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2286000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199631" y="2432304"/>
            <a:ext cx="2322576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3262E"/>
                </a:solidFill>
                <a:latin typeface="Segoe UI"/>
              </a:rPr>
              <a:t>Parameters = schema</a:t>
            </a:r>
          </a:p>
          <a:p>
            <a:pPr algn="l"/>
            <a:r>
              <a:rPr sz="1050" b="0">
                <a:solidFill>
                  <a:srgbClr val="6F7682"/>
                </a:solidFill>
                <a:latin typeface="Segoe UI"/>
              </a:rPr>
              <a:t>Typed Python args become the tool's JSON schema. No JSON strings.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3337560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99631" y="3483864"/>
            <a:ext cx="2322576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3262E"/>
                </a:solidFill>
                <a:latin typeface="Segoe UI"/>
              </a:rPr>
              <a:t>Return = result</a:t>
            </a:r>
          </a:p>
          <a:p>
            <a:pPr algn="l"/>
            <a:r>
              <a:rPr sz="1050" b="0">
                <a:solidFill>
                  <a:srgbClr val="6F7682"/>
                </a:solidFill>
                <a:latin typeface="Segoe UI"/>
              </a:rPr>
              <a:t>Text, structured JSON, images, links, or a UI. Zero protocol code.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2 · Tools that render UI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234440"/>
            <a:ext cx="1920240" cy="219456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21792" y="1371600"/>
            <a:ext cx="1600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E1571E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874519"/>
            <a:ext cx="1600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3262E"/>
                </a:solidFill>
                <a:latin typeface="Segoe UI"/>
              </a:rPr>
              <a:t>"What's flying over us?"</a:t>
            </a:r>
          </a:p>
          <a:p>
            <a:pPr algn="l"/>
            <a:r>
              <a:rPr sz="1050" b="0">
                <a:solidFill>
                  <a:srgbClr val="6F7682"/>
                </a:solidFill>
                <a:latin typeface="Segoe UI"/>
              </a:rPr>
              <a:t>flights_overhead → a radar renders in the chat (MCP App) and refreshes itself every 15 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234440"/>
            <a:ext cx="1920240" cy="219456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724912" y="1371600"/>
            <a:ext cx="1600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E1571E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24912" y="1874519"/>
            <a:ext cx="1600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3262E"/>
                </a:solidFill>
                <a:latin typeface="Segoe UI"/>
              </a:rPr>
              <a:t>Show the decorator</a:t>
            </a:r>
          </a:p>
          <a:p>
            <a:pPr algn="l"/>
            <a:r>
              <a:rPr sz="1050" b="0">
                <a:solidFill>
                  <a:srgbClr val="6F7682"/>
                </a:solidFill>
                <a:latin typeface="Segoe UI"/>
              </a:rPr>
              <a:t>One metadata line points the tool at its ui:// widget. Typed params + docstring = the contract.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1234440"/>
            <a:ext cx="1920240" cy="2194560"/>
          </a:xfrm>
          <a:prstGeom prst="roundRect">
            <a:avLst>
              <a:gd name="adj" fmla="val 6000"/>
            </a:avLst>
          </a:prstGeom>
          <a:solidFill>
            <a:srgbClr val="FBE9DF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28031" y="1371600"/>
            <a:ext cx="1600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E1571E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28031" y="1874519"/>
            <a:ext cx="1600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3262E"/>
                </a:solidFill>
                <a:latin typeface="Segoe UI"/>
              </a:rPr>
              <a:t>Name my pizza place</a:t>
            </a:r>
          </a:p>
          <a:p>
            <a:pPr algn="l"/>
            <a:r>
              <a:rPr sz="1050" b="0">
                <a:solidFill>
                  <a:srgbClr val="6F7682"/>
                </a:solidFill>
                <a:latin typeface="Segoe UI"/>
              </a:rPr>
              <a:t>/name_my_business → check_domains → picker: obvious names taken, puns free.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59" y="1234440"/>
            <a:ext cx="1920240" cy="219456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931151" y="1371600"/>
            <a:ext cx="1600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E1571E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31151" y="1874519"/>
            <a:ext cx="1600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3262E"/>
                </a:solidFill>
                <a:latin typeface="Segoe UI"/>
              </a:rPr>
              <a:t>Click Reserve</a:t>
            </a:r>
          </a:p>
          <a:p>
            <a:pPr algn="l"/>
            <a:r>
              <a:rPr sz="1050" b="0">
                <a:solidFill>
                  <a:srgbClr val="6F7682"/>
                </a:solidFill>
                <a:latin typeface="Segoe UI"/>
              </a:rPr>
              <a:t>The button calls reserve_domain in Azure → a JSON ticket lands in Blob.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1571E"/>
                </a:solidFill>
                <a:latin typeface="Segoe UI"/>
              </a:rPr>
              <a:t>MCP Apps are an official MCP extension: a ui:// resource plus tool metadata. The same widget renders in VS Code, M365 Copilot and other MCP Apps hosts. No client-specific code. Routes come from a second public API, cached per callsign.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Security: the 401 handshake, step by step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234440"/>
            <a:ext cx="1783080" cy="118872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94360" y="1325880"/>
            <a:ext cx="1508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CLIENT</a:t>
            </a:r>
          </a:p>
          <a:p>
            <a:pPr algn="l"/>
            <a:r>
              <a:rPr sz="1050" b="0">
                <a:solidFill>
                  <a:srgbClr val="23262E"/>
                </a:solidFill>
                <a:latin typeface="Segoe UI"/>
              </a:rPr>
              <a:t>Calls the MCP endpoint with no token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86000" y="1691640"/>
            <a:ext cx="274320" cy="256032"/>
          </a:xfrm>
          <a:prstGeom prst="rightArrow">
            <a:avLst/>
          </a:prstGeom>
          <a:solidFill>
            <a:srgbClr val="E1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606040" y="1234440"/>
            <a:ext cx="1783080" cy="1188720"/>
          </a:xfrm>
          <a:prstGeom prst="roundRect">
            <a:avLst>
              <a:gd name="adj" fmla="val 6000"/>
            </a:avLst>
          </a:prstGeom>
          <a:solidFill>
            <a:srgbClr val="23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743200" y="1325880"/>
            <a:ext cx="1508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5B08A"/>
                </a:solidFill>
                <a:latin typeface="Segoe UI"/>
              </a:rPr>
              <a:t>FUNCTIONS</a:t>
            </a:r>
          </a:p>
          <a:p>
            <a:pPr algn="l"/>
            <a:r>
              <a:rPr sz="1050" b="0">
                <a:solidFill>
                  <a:srgbClr val="FFFFFF"/>
                </a:solidFill>
                <a:latin typeface="Segoe UI"/>
              </a:rPr>
              <a:t>401 + link to Protected Resource Metadata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434840" y="1691640"/>
            <a:ext cx="274320" cy="256032"/>
          </a:xfrm>
          <a:prstGeom prst="rightArrow">
            <a:avLst/>
          </a:prstGeom>
          <a:solidFill>
            <a:srgbClr val="E1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80" y="1234440"/>
            <a:ext cx="1783080" cy="118872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92040" y="1325880"/>
            <a:ext cx="1508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ENTRA ID</a:t>
            </a:r>
          </a:p>
          <a:p>
            <a:pPr algn="l"/>
            <a:r>
              <a:rPr sz="1050" b="0">
                <a:solidFill>
                  <a:srgbClr val="23262E"/>
                </a:solidFill>
                <a:latin typeface="Segoe UI"/>
              </a:rPr>
              <a:t>User signs in, consents, gets an access token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583680" y="1691640"/>
            <a:ext cx="274320" cy="256032"/>
          </a:xfrm>
          <a:prstGeom prst="rightArrow">
            <a:avLst/>
          </a:prstGeom>
          <a:solidFill>
            <a:srgbClr val="E1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903720" y="1234440"/>
            <a:ext cx="1783080" cy="1188720"/>
          </a:xfrm>
          <a:prstGeom prst="roundRect">
            <a:avLst>
              <a:gd name="adj" fmla="val 6000"/>
            </a:avLst>
          </a:prstGeom>
          <a:solidFill>
            <a:srgbClr val="E1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040880" y="1325880"/>
            <a:ext cx="1508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BE9DF"/>
                </a:solidFill>
                <a:latin typeface="Segoe UI"/>
              </a:rPr>
              <a:t>TOOL RUNS</a:t>
            </a:r>
          </a:p>
          <a:p>
            <a:pPr algn="l"/>
            <a:r>
              <a:rPr sz="1050" b="0">
                <a:solidFill>
                  <a:srgbClr val="FFFFFF"/>
                </a:solidFill>
                <a:latin typeface="Segoe UI"/>
              </a:rPr>
              <a:t>Token validated; the caller's identity is in your code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697480"/>
            <a:ext cx="2651760" cy="169164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21792" y="2843784"/>
            <a:ext cx="2322576" cy="1399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3262E"/>
                </a:solidFill>
                <a:latin typeface="Segoe UI"/>
              </a:rPr>
              <a:t>Built-in auth</a:t>
            </a:r>
          </a:p>
          <a:p>
            <a:pPr algn="l"/>
            <a:r>
              <a:rPr sz="1100" b="0">
                <a:solidFill>
                  <a:srgbClr val="6F7682"/>
                </a:solidFill>
                <a:latin typeface="Segoe UI"/>
              </a:rPr>
              <a:t>App Service authentication does the OAuth dance per the MCP spec, all in Bicep. You configure, you don't code.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46120" y="2697480"/>
            <a:ext cx="2651760" cy="169164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410712" y="2843784"/>
            <a:ext cx="2322576" cy="1399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3262E"/>
                </a:solidFill>
                <a:latin typeface="Segoe UI"/>
              </a:rPr>
              <a:t>On-behalf-of</a:t>
            </a:r>
          </a:p>
          <a:p>
            <a:pPr algn="l"/>
            <a:r>
              <a:rPr sz="1100" b="0">
                <a:solidFill>
                  <a:srgbClr val="6F7682"/>
                </a:solidFill>
                <a:latin typeface="Segoe UI"/>
              </a:rPr>
              <a:t>Exchange the user's token for Graph, ARM, Azure DevOps. The tool acts as the user, with the user's rights.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2697480"/>
            <a:ext cx="2651760" cy="169164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99631" y="2843784"/>
            <a:ext cx="2322576" cy="1399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3262E"/>
                </a:solidFill>
                <a:latin typeface="Segoe UI"/>
              </a:rPr>
              <a:t>Belt and braces</a:t>
            </a:r>
          </a:p>
          <a:p>
            <a:pPr algn="l"/>
            <a:r>
              <a:rPr sz="1100" b="0">
                <a:solidFill>
                  <a:srgbClr val="6F7682"/>
                </a:solidFill>
                <a:latin typeface="Segoe UI"/>
              </a:rPr>
              <a:t>API Management as the gateway for policies and rate limits; VNET integration so the app is never public.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3 · Who's asking?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234440"/>
            <a:ext cx="2651760" cy="315468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21792" y="1371600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1571E"/>
                </a:solidFill>
                <a:latin typeface="Segoe UI"/>
              </a:rPr>
              <a:t>Sign in</a:t>
            </a:r>
          </a:p>
          <a:p>
            <a:pPr algn="l"/>
            <a:r>
              <a:rPr sz="950" b="0">
                <a:solidFill>
                  <a:srgbClr val="6F7682"/>
                </a:solidFill>
                <a:latin typeface="Segoe UI"/>
              </a:rPr>
              <a:t>the 401 dance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965960"/>
            <a:ext cx="23317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52400" indent="-152400">
              <a:spcAft>
                <a:spcPts val="500"/>
              </a:spcAft>
              <a:buChar char="•"/>
            </a:pPr>
            <a:r>
              <a:rPr b="1" sz="1050">
                <a:solidFill>
                  <a:srgbClr val="23262E"/>
                </a:solidFill>
                <a:latin typeface="Segoe UI"/>
              </a:rPr>
              <a:t>adopilot-remote has no key in mcp.json</a:t>
            </a:r>
          </a:p>
          <a:p>
            <a:pPr marL="152400" indent="-152400">
              <a:spcAft>
                <a:spcPts val="500"/>
              </a:spcAft>
              <a:buChar char="•"/>
            </a:pPr>
            <a:r>
              <a:rPr b="1" sz="1050">
                <a:solidFill>
                  <a:srgbClr val="23262E"/>
                </a:solidFill>
                <a:latin typeface="Segoe UI"/>
              </a:rPr>
              <a:t>401 → protected resource metadata → Microsoft sign-in, all by VS Code</a:t>
            </a:r>
          </a:p>
          <a:p>
            <a:pPr marL="152400" indent="-152400">
              <a:spcAft>
                <a:spcPts val="500"/>
              </a:spcAft>
              <a:buChar char="•"/>
            </a:pPr>
            <a:r>
              <a:rPr b="1" sz="1050">
                <a:solidFill>
                  <a:srgbClr val="23262E"/>
                </a:solidFill>
                <a:latin typeface="Segoe UI"/>
              </a:rPr>
              <a:t>Server side: authsettingsV2 + one app setting, all Bicep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234440"/>
            <a:ext cx="2651760" cy="315468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410712" y="1371600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1571E"/>
                </a:solidFill>
                <a:latin typeface="Segoe UI"/>
              </a:rPr>
              <a:t>whoami</a:t>
            </a:r>
          </a:p>
          <a:p>
            <a:pPr algn="l"/>
            <a:r>
              <a:rPr sz="950" b="0">
                <a:solidFill>
                  <a:srgbClr val="6F7682"/>
                </a:solidFill>
                <a:latin typeface="Segoe UI"/>
              </a:rPr>
              <a:t>on-behalf-of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0712" y="1965960"/>
            <a:ext cx="23317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52400" indent="-152400">
              <a:spcAft>
                <a:spcPts val="500"/>
              </a:spcAft>
              <a:buChar char="•"/>
            </a:pPr>
            <a:r>
              <a:rPr b="1" sz="1050">
                <a:solidFill>
                  <a:srgbClr val="23262E"/>
                </a:solidFill>
                <a:latin typeface="Segoe UI"/>
              </a:rPr>
              <a:t>"Who am I signed in as?" → the server calls Microsoft Graph as me</a:t>
            </a:r>
          </a:p>
          <a:p>
            <a:pPr marL="152400" indent="-152400">
              <a:spcAft>
                <a:spcPts val="500"/>
              </a:spcAft>
              <a:buChar char="•"/>
            </a:pPr>
            <a:r>
              <a:rPr b="1" sz="1050">
                <a:solidFill>
                  <a:srgbClr val="23262E"/>
                </a:solidFill>
                <a:latin typeface="Segoe UI"/>
              </a:rPr>
              <a:t>No client secret: the app proves itself with its managed identity</a:t>
            </a:r>
          </a:p>
          <a:p>
            <a:pPr marL="152400" indent="-152400">
              <a:spcAft>
                <a:spcPts val="500"/>
              </a:spcAft>
              <a:buChar char="•"/>
            </a:pPr>
            <a:r>
              <a:rPr b="1" sz="1050">
                <a:solidFill>
                  <a:srgbClr val="23262E"/>
                </a:solidFill>
                <a:latin typeface="Segoe UI"/>
              </a:rPr>
              <a:t>Same token, next hop: the sprint board from Azure DevOps, as 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1234440"/>
            <a:ext cx="2651760" cy="315468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99631" y="1371600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1571E"/>
                </a:solidFill>
                <a:latin typeface="Segoe UI"/>
              </a:rPr>
              <a:t>create_bug</a:t>
            </a:r>
          </a:p>
          <a:p>
            <a:pPr algn="l"/>
            <a:r>
              <a:rPr sz="950" b="0">
                <a:solidFill>
                  <a:srgbClr val="6F7682"/>
                </a:solidFill>
                <a:latin typeface="Segoe UI"/>
              </a:rPr>
              <a:t>the audit trail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1" y="1965960"/>
            <a:ext cx="23317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52400" indent="-152400">
              <a:spcAft>
                <a:spcPts val="500"/>
              </a:spcAft>
              <a:buChar char="•"/>
            </a:pPr>
            <a:r>
              <a:rPr b="1" sz="1050">
                <a:solidFill>
                  <a:srgbClr val="23262E"/>
                </a:solidFill>
                <a:latin typeface="Segoe UI"/>
              </a:rPr>
              <a:t>Paste a Teams complaint → a P2 bug with repro steps</a:t>
            </a:r>
          </a:p>
          <a:p>
            <a:pPr marL="152400" indent="-152400">
              <a:spcAft>
                <a:spcPts val="500"/>
              </a:spcAft>
              <a:buChar char="•"/>
            </a:pPr>
            <a:r>
              <a:rPr b="1" sz="1050">
                <a:solidFill>
                  <a:srgbClr val="23262E"/>
                </a:solidFill>
                <a:latin typeface="Segoe UI"/>
              </a:rPr>
              <a:t>Created By = me, filed in the current sprint</a:t>
            </a:r>
          </a:p>
          <a:p>
            <a:pPr marL="152400" indent="-152400">
              <a:spcAft>
                <a:spcPts val="500"/>
              </a:spcAft>
              <a:buChar char="•"/>
            </a:pPr>
            <a:r>
              <a:rPr b="1" sz="1050">
                <a:solidFill>
                  <a:srgbClr val="23262E"/>
                </a:solidFill>
                <a:latin typeface="Segoe UI"/>
              </a:rPr>
              <a:t>No PAT anywhere in the platform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4 · Find it, reuse it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23444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21792" y="1380744"/>
            <a:ext cx="3694176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API Center is the registry</a:t>
            </a:r>
          </a:p>
          <a:p>
            <a:pPr algn="l"/>
            <a:r>
              <a:rPr sz="1150" b="0">
                <a:solidFill>
                  <a:srgbClr val="6F7682"/>
                </a:solidFill>
                <a:latin typeface="Segoe UI"/>
              </a:rPr>
              <a:t>All four servers registered as MCP from Bicep. The v0.1 registry API feeds VS Code, GitHub Copilot and Foundry.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23444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828031" y="1380744"/>
            <a:ext cx="3694176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Entra only, no anonymous access</a:t>
            </a:r>
          </a:p>
          <a:p>
            <a:pPr algn="l"/>
            <a:r>
              <a:rPr sz="1150" b="0">
                <a:solidFill>
                  <a:srgbClr val="6F7682"/>
                </a:solidFill>
                <a:latin typeface="Segoe UI"/>
              </a:rPr>
              <a:t>You see the catalog because Entra says you're an API Center Data Reader. So is the Foundry project.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83464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1792" y="2980944"/>
            <a:ext cx="3694176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A Foundry agent, same servers</a:t>
            </a:r>
          </a:p>
          <a:p>
            <a:pPr algn="l"/>
            <a:r>
              <a:rPr sz="1150" b="0">
                <a:solidFill>
                  <a:srgbClr val="6F7682"/>
                </a:solidFill>
                <a:latin typeface="Segoe UI"/>
              </a:rPr>
              <a:t>Foundry Agent Service uses skywatch and domainforge through project connections. Zero client-specific code.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83464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28031" y="2980944"/>
            <a:ext cx="3694176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Human in the loop</a:t>
            </a:r>
          </a:p>
          <a:p>
            <a:pPr algn="l"/>
            <a:r>
              <a:rPr sz="1150" b="0">
                <a:solidFill>
                  <a:srgbClr val="6F7682"/>
                </a:solidFill>
                <a:latin typeface="Segoe UI"/>
              </a:rPr>
              <a:t>Reads run freely; reserve_domain waits for approval. Optional: APIM in front for keys and rate limits.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What's running: one azd up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280160"/>
            <a:ext cx="1737360" cy="2834640"/>
          </a:xfrm>
          <a:prstGeom prst="roundRect">
            <a:avLst>
              <a:gd name="adj" fmla="val 6000"/>
            </a:avLst>
          </a:prstGeom>
          <a:solidFill>
            <a:srgbClr val="23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21792" y="1426463"/>
            <a:ext cx="1408176" cy="2542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F5B08A"/>
                </a:solidFill>
                <a:latin typeface="Segoe UI"/>
              </a:rPr>
              <a:t>AGENTS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Any MCP client</a:t>
            </a:r>
          </a:p>
          <a:p>
            <a:pPr algn="l"/>
            <a:r>
              <a:rPr sz="1100" b="0">
                <a:solidFill>
                  <a:srgbClr val="C9CDD6"/>
                </a:solidFill>
                <a:latin typeface="Segoe UI"/>
              </a:rPr>
              <a:t>VS Code Copilot</a:t>
            </a:r>
          </a:p>
          <a:p>
            <a:pPr algn="l"/>
            <a:r>
              <a:rPr sz="1100" b="0">
                <a:solidFill>
                  <a:srgbClr val="C9CDD6"/>
                </a:solidFill>
                <a:latin typeface="Segoe UI"/>
              </a:rPr>
              <a:t>M365 Copilot</a:t>
            </a:r>
          </a:p>
          <a:p>
            <a:pPr algn="l"/>
            <a:r>
              <a:rPr sz="1100" b="0">
                <a:solidFill>
                  <a:srgbClr val="C9CDD6"/>
                </a:solidFill>
                <a:latin typeface="Segoe UI"/>
              </a:rPr>
              <a:t>Foundry agent</a:t>
            </a:r>
          </a:p>
          <a:p>
            <a:pPr algn="l"/>
            <a:r>
              <a:rPr sz="1100" b="0">
                <a:solidFill>
                  <a:srgbClr val="C9CDD6"/>
                </a:solidFill>
                <a:latin typeface="Segoe UI"/>
              </a:rPr>
              <a:t>Your own app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86000" y="2560320"/>
            <a:ext cx="365760" cy="274320"/>
          </a:xfrm>
          <a:prstGeom prst="rightArrow">
            <a:avLst/>
          </a:prstGeom>
          <a:solidFill>
            <a:srgbClr val="E1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12848" y="2907792"/>
            <a:ext cx="548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>
                <a:solidFill>
                  <a:srgbClr val="6F7682"/>
                </a:solidFill>
                <a:latin typeface="Segoe UI"/>
              </a:rPr>
              <a:t>HTTP + key or Entra token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280160"/>
            <a:ext cx="3383280" cy="868680"/>
          </a:xfrm>
          <a:prstGeom prst="roundRect">
            <a:avLst>
              <a:gd name="adj" fmla="val 6000"/>
            </a:avLst>
          </a:prstGeom>
          <a:solidFill>
            <a:srgbClr val="E1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926080" y="137160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adopilot · Entra</a:t>
            </a:r>
          </a:p>
          <a:p>
            <a:pPr algn="l"/>
            <a:r>
              <a:rPr sz="850" b="0">
                <a:solidFill>
                  <a:srgbClr val="FBE9DF"/>
                </a:solidFill>
                <a:latin typeface="Consolas"/>
              </a:rPr>
              <a:t>whoami · sprint_board · open_bugs · create_bug · pipeline_health · /standup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88920" y="2240280"/>
            <a:ext cx="3383280" cy="868680"/>
          </a:xfrm>
          <a:prstGeom prst="roundRect">
            <a:avLst>
              <a:gd name="adj" fmla="val 6000"/>
            </a:avLst>
          </a:prstGeom>
          <a:solidFill>
            <a:srgbClr val="E1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926080" y="233172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skywatch · MCP App</a:t>
            </a:r>
          </a:p>
          <a:p>
            <a:pPr algn="l"/>
            <a:r>
              <a:rPr sz="850" b="0">
                <a:solidFill>
                  <a:srgbClr val="FBE9DF"/>
                </a:solidFill>
                <a:latin typeface="Consolas"/>
              </a:rPr>
              <a:t>flights_overhead (radar) · radar_image · find_flight · airports://nearby · /plane_spotter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88920" y="3200400"/>
            <a:ext cx="3383280" cy="868680"/>
          </a:xfrm>
          <a:prstGeom prst="roundRect">
            <a:avLst>
              <a:gd name="adj" fmla="val 6000"/>
            </a:avLst>
          </a:prstGeom>
          <a:solidFill>
            <a:srgbClr val="E1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926080" y="329184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domainforge · MCP App</a:t>
            </a:r>
          </a:p>
          <a:p>
            <a:pPr algn="l"/>
            <a:r>
              <a:rPr sz="850" b="0">
                <a:solidFill>
                  <a:srgbClr val="FBE9DF"/>
                </a:solidFill>
                <a:latin typeface="Consolas"/>
              </a:rPr>
              <a:t>brainstorm_domains · check_domains (picker) · reserve_domain (Blob) · /name_my_business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416052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B23A1E"/>
                </a:solidFill>
                <a:latin typeface="Segoe UI"/>
              </a:rPr>
              <a:t>+ concierge (self-hosted) · API Center · Foundry · 1 Bicep · 1 azd up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263640" y="2560320"/>
            <a:ext cx="365760" cy="274320"/>
          </a:xfrm>
          <a:prstGeom prst="rightArrow">
            <a:avLst/>
          </a:prstGeom>
          <a:solidFill>
            <a:srgbClr val="E1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9632" y="2907792"/>
            <a:ext cx="502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>
                <a:solidFill>
                  <a:srgbClr val="6F7682"/>
                </a:solidFill>
                <a:latin typeface="Segoe UI"/>
              </a:rPr>
              <a:t>Managed identity · OBO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66560" y="1280160"/>
            <a:ext cx="1920240" cy="283464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931152" y="1426463"/>
            <a:ext cx="1591056" cy="2542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BACKENDS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23262E"/>
                </a:solidFill>
                <a:latin typeface="Segoe UI"/>
              </a:rPr>
              <a:t>APIs &amp; storage</a:t>
            </a:r>
          </a:p>
          <a:p>
            <a:pPr algn="l"/>
            <a:r>
              <a:rPr sz="1100" b="0">
                <a:solidFill>
                  <a:srgbClr val="6F7682"/>
                </a:solidFill>
                <a:latin typeface="Segoe UI"/>
              </a:rPr>
              <a:t>Graph · Azure DevOps</a:t>
            </a:r>
          </a:p>
          <a:p>
            <a:pPr algn="l"/>
            <a:r>
              <a:rPr sz="1100" b="0">
                <a:solidFill>
                  <a:srgbClr val="6F7682"/>
                </a:solidFill>
                <a:latin typeface="Segoe UI"/>
              </a:rPr>
              <a:t>adsb.lol · adsbdb</a:t>
            </a:r>
          </a:p>
          <a:p>
            <a:pPr algn="l"/>
            <a:r>
              <a:rPr sz="1100" b="0">
                <a:solidFill>
                  <a:srgbClr val="6F7682"/>
                </a:solidFill>
                <a:latin typeface="Segoe UI"/>
              </a:rPr>
              <a:t>RDAP + DNS</a:t>
            </a:r>
          </a:p>
          <a:p>
            <a:pPr algn="l"/>
            <a:r>
              <a:rPr sz="1100" b="0">
                <a:solidFill>
                  <a:srgbClr val="6F7682"/>
                </a:solidFill>
                <a:latin typeface="Segoe UI"/>
              </a:rPr>
              <a:t>Blob Storage · App Insights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Running it for real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8229600" cy="3017520"/>
        </p:xfrm>
        <a:graphic>
          <a:graphicData uri="http://schemas.openxmlformats.org/drawingml/2006/table">
            <a:tbl bandRow="0" firstRow="0">
              <a:tblPr firstRow="1" bandRow="1">
                <a:tableStyleId>{5C22544A-7EE6-4342-B048-85BDC9FD1C3A}</a:tableStyleId>
              </a:tblPr>
              <a:tblGrid>
                <a:gridCol w="1554480"/>
                <a:gridCol w="667512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Concern</a:t>
                      </a:r>
                    </a:p>
                  </a:txBody>
                  <a:tcPr marL="91440" marR="91440" marT="45720" marB="45720" anchor="ctr">
                    <a:solidFill>
                      <a:srgbClr val="23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What to do about it</a:t>
                      </a:r>
                    </a:p>
                  </a:txBody>
                  <a:tcPr marL="91440" marR="91440" marT="45720" marB="45720" anchor="ctr">
                    <a:solidFill>
                      <a:srgbClr val="23262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62E"/>
                          </a:solidFill>
                          <a:latin typeface="Segoe UI"/>
                        </a:rPr>
                        <a:t>Cold starts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62E"/>
                          </a:solidFill>
                          <a:latin typeface="Segoe UI"/>
                        </a:rPr>
                        <a:t>Flex Consumption always-ready instances for servers people actually use; let the rest scale to zero.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62E"/>
                          </a:solidFill>
                          <a:latin typeface="Segoe UI"/>
                        </a:rPr>
                        <a:t>Slow tools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62E"/>
                          </a:solidFill>
                          <a:latin typeface="Segoe UI"/>
                        </a:rPr>
                        <a:t>Keep a tool under a few seconds. Longer work starts a Durable orchestration and returns a status the agent can poll.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62E"/>
                          </a:solidFill>
                          <a:latin typeface="Segoe UI"/>
                        </a:rPr>
                        <a:t>Observability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62E"/>
                          </a:solidFill>
                          <a:latin typeface="Segoe UI"/>
                        </a:rPr>
                        <a:t>Every tool call is a function invocation in App Insights: who called what, with which arguments, how long.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62E"/>
                          </a:solidFill>
                          <a:latin typeface="Segoe UI"/>
                        </a:rPr>
                        <a:t>Keys vs OAuth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62E"/>
                          </a:solidFill>
                          <a:latin typeface="Segoe UI"/>
                        </a:rPr>
                        <a:t>Keys for local dev and smoke tests only. Shared servers: Entra + on-behalf-of. No PAT, no client secret, ideally behind APIM.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62E"/>
                          </a:solidFill>
                          <a:latin typeface="Segoe UI"/>
                        </a:rPr>
                        <a:t>Versioning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62E"/>
                          </a:solidFill>
                          <a:latin typeface="Segoe UI"/>
                        </a:rPr>
                        <a:t>Tool names and descriptions are your API contract. Add tools freely; rename or change semantics only with a new server.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on Functions in 2026: the cheat sheet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8229600" cy="3127248"/>
        </p:xfrm>
        <a:graphic>
          <a:graphicData uri="http://schemas.openxmlformats.org/drawingml/2006/table">
            <a:tbl bandRow="0" firstRow="0">
              <a:tblPr firstRow="1" bandRow="1">
                <a:tableStyleId>{5C22544A-7EE6-4342-B048-85BDC9FD1C3A}</a:tableStyleId>
              </a:tblPr>
              <a:tblGrid>
                <a:gridCol w="2377440"/>
                <a:gridCol w="2194560"/>
                <a:gridCol w="36576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Feature</a:t>
                      </a:r>
                    </a:p>
                  </a:txBody>
                  <a:tcPr marL="91440" marR="91440" marT="45720" marB="45720" anchor="ctr">
                    <a:solidFill>
                      <a:srgbClr val="23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In the demo</a:t>
                      </a:r>
                    </a:p>
                  </a:txBody>
                  <a:tcPr marL="91440" marR="91440" marT="45720" marB="45720" anchor="ctr">
                    <a:solidFill>
                      <a:srgbClr val="23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One sentence</a:t>
                      </a:r>
                    </a:p>
                  </a:txBody>
                  <a:tcPr marL="91440" marR="91440" marT="45720" marB="45720" anchor="ctr">
                    <a:solidFill>
                      <a:srgbClr val="23262E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62E"/>
                          </a:solidFill>
                          <a:latin typeface="Segoe UI"/>
                        </a:rPr>
                        <a:t>Typed Python decorators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every @app.mcp_tool()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The parameter is the schema, the docstring is the prompt.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62E"/>
                          </a:solidFill>
                          <a:latin typeface="Segoe UI"/>
                        </a:rPr>
                        <a:t>Structured content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sprint_board, flights_overhead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Typed objects for UIs and code; text for humans. Same call.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62E"/>
                          </a:solidFill>
                          <a:latin typeface="Segoe UI"/>
                        </a:rPr>
                        <a:t>API Center + Foundry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registry, Foundry agent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How others find your tools and reuse them from another agent platform.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62E"/>
                          </a:solidFill>
                          <a:latin typeface="Segoe UI"/>
                        </a:rPr>
                        <a:t>Resource + prompt triggers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definition-of-done, /standup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The team's playbook, versioned with the server.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62E"/>
                          </a:solidFill>
                          <a:latin typeface="Segoe UI"/>
                        </a:rPr>
                        <a:t>MCP Apps (official extension)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radar, domain picker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Tool returns UI. VS Code, M365 Copilot and other MCP Apps hosts. No client code.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62E"/>
                          </a:solidFill>
                          <a:latin typeface="Segoe UI"/>
                        </a:rPr>
                        <a:t>Bindings next to tools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reserve_domain → Blob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Swap Blob for Cosmos, SQL or Service Bus in one line.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62E"/>
                          </a:solidFill>
                          <a:latin typeface="Segoe UI"/>
                        </a:rPr>
                        <a:t>Built-in auth + on-behalf-of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adopilot (all Bicep)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The 401 is the server asking who you are; then it acts as you.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62E"/>
                          </a:solidFill>
                          <a:latin typeface="Segoe UI"/>
                        </a:rPr>
                        <a:t>Self-hosted SDK servers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concierge (Demo 1)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Lift-and-shift an existing FastMCP server. Same platform.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Field notes from building these for real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23444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BE9DF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21792" y="1380744"/>
            <a:ext cx="3694176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Tool descriptions are prompts</a:t>
            </a:r>
          </a:p>
          <a:p>
            <a:pPr algn="l"/>
            <a:r>
              <a:rPr sz="1150" b="0">
                <a:solidFill>
                  <a:srgbClr val="6F7682"/>
                </a:solidFill>
                <a:latin typeface="Segoe UI"/>
              </a:rPr>
              <a:t>Real bug from this demo: "e.g. 'Active'" in a parameter description made the agent filter a Scrum board to nothing. Fixed in the description.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23444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828031" y="1380744"/>
            <a:ext cx="3694176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Five sharp tools beat forty vague ones</a:t>
            </a:r>
          </a:p>
          <a:p>
            <a:pPr algn="l"/>
            <a:r>
              <a:rPr sz="1150" b="0">
                <a:solidFill>
                  <a:srgbClr val="6F7682"/>
                </a:solidFill>
                <a:latin typeface="Segoe UI"/>
              </a:rPr>
              <a:t>Every tool costs context and confuses selection. Wrap intent, not every REST endpoint you own.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83464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1792" y="2980944"/>
            <a:ext cx="3694176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Return structure, not prose</a:t>
            </a:r>
          </a:p>
          <a:p>
            <a:pPr algn="l"/>
            <a:r>
              <a:rPr sz="1150" b="0">
                <a:solidFill>
                  <a:srgbClr val="6F7682"/>
                </a:solidFill>
                <a:latin typeface="Segoe UI"/>
              </a:rPr>
              <a:t>Compact JSON with stable keys. The agent will narrate it; you don't have 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83464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BE9DF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28031" y="2980944"/>
            <a:ext cx="3694176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Auth on day one: test it with the real client</a:t>
            </a:r>
          </a:p>
          <a:p>
            <a:pPr algn="l"/>
            <a:r>
              <a:rPr sz="1150" b="0">
                <a:solidFill>
                  <a:srgbClr val="6F7682"/>
                </a:solidFill>
                <a:latin typeface="Segoe UI"/>
              </a:rPr>
              <a:t>Start with Entra; it's Bicep, not a refactor. VS Code sends an RFC 8707 resource: register the server URL on the app.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things to take back to the datacenter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234440"/>
            <a:ext cx="8229600" cy="91440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1571E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344168"/>
            <a:ext cx="7132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3262E"/>
                </a:solidFill>
                <a:latin typeface="Segoe UI"/>
              </a:rPr>
              <a:t>An MCP server on Azure Functions is one decorator on a function you were going to write anyway.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286000"/>
            <a:ext cx="8229600" cy="914400"/>
          </a:xfrm>
          <a:prstGeom prst="roundRect">
            <a:avLst>
              <a:gd name="adj" fmla="val 6000"/>
            </a:avLst>
          </a:prstGeom>
          <a:solidFill>
            <a:srgbClr val="23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" y="2423160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1571E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395728"/>
            <a:ext cx="7132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External means identity: the 401 handshake and Entra make the agent act as a real person with real permissions.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337560"/>
            <a:ext cx="8229600" cy="91440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0080" y="3474720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1571E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447288"/>
            <a:ext cx="7132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3262E"/>
                </a:solidFill>
                <a:latin typeface="Segoe UI"/>
              </a:rPr>
              <a:t>Start small: three tools, one resource, one prompt, azd up, then register it in API Center so others find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Steal these links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234440"/>
            <a:ext cx="4023360" cy="96012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21792" y="1344168"/>
            <a:ext cx="3703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23262E"/>
                </a:solidFill>
                <a:latin typeface="Segoe UI"/>
              </a:rPr>
              <a:t>Remote MCP on Functions: landing page</a:t>
            </a:r>
          </a:p>
          <a:p>
            <a:pPr algn="l">
              <a:spcAft>
                <a:spcPts val="100"/>
              </a:spcAft>
            </a:pPr>
            <a:r>
              <a:rPr sz="950" b="1">
                <a:solidFill>
                  <a:srgbClr val="B23A1E"/>
                </a:solidFill>
                <a:latin typeface="Consolas"/>
              </a:rPr>
              <a:t>aka.ms/remote-mcp</a:t>
            </a:r>
          </a:p>
          <a:p>
            <a:pPr algn="l"/>
            <a:r>
              <a:rPr sz="950" b="0">
                <a:solidFill>
                  <a:srgbClr val="6F7682"/>
                </a:solidFill>
                <a:latin typeface="Segoe UI"/>
              </a:rPr>
              <a:t>azd templates for .NET, Python, TypeScript, Java; APIM and self-hosted variants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234440"/>
            <a:ext cx="4023360" cy="96012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828031" y="1344168"/>
            <a:ext cx="3703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23262E"/>
                </a:solidFill>
                <a:latin typeface="Segoe UI"/>
              </a:rPr>
              <a:t>The extension itself</a:t>
            </a:r>
          </a:p>
          <a:p>
            <a:pPr algn="l">
              <a:spcAft>
                <a:spcPts val="100"/>
              </a:spcAft>
            </a:pPr>
            <a:r>
              <a:rPr sz="950" b="1">
                <a:solidFill>
                  <a:srgbClr val="B23A1E"/>
                </a:solidFill>
                <a:latin typeface="Consolas"/>
              </a:rPr>
              <a:t>github.com/Azure/azure-functions-mcp-extension</a:t>
            </a:r>
          </a:p>
          <a:p>
            <a:pPr algn="l"/>
            <a:r>
              <a:rPr sz="950" b="0">
                <a:solidFill>
                  <a:srgbClr val="6F7682"/>
                </a:solidFill>
                <a:latin typeface="Segoe UI"/>
              </a:rPr>
              <a:t>Source, host.json options, release notes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04288"/>
            <a:ext cx="4023360" cy="96012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1792" y="2414016"/>
            <a:ext cx="3703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23262E"/>
                </a:solidFill>
                <a:latin typeface="Segoe UI"/>
              </a:rPr>
              <a:t>Tutorial: host an MCP server on Functions</a:t>
            </a:r>
          </a:p>
          <a:p>
            <a:pPr algn="l">
              <a:spcAft>
                <a:spcPts val="100"/>
              </a:spcAft>
            </a:pPr>
            <a:r>
              <a:rPr sz="950" b="1">
                <a:solidFill>
                  <a:srgbClr val="B23A1E"/>
                </a:solidFill>
                <a:latin typeface="Consolas"/>
              </a:rPr>
              <a:t>learn.microsoft.com/azure/azure-functions/functions-mcp-tutorial</a:t>
            </a:r>
          </a:p>
          <a:p>
            <a:pPr algn="l"/>
            <a:r>
              <a:rPr sz="950" b="0">
                <a:solidFill>
                  <a:srgbClr val="6F7682"/>
                </a:solidFill>
                <a:latin typeface="Segoe UI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304288"/>
            <a:ext cx="4023360" cy="96012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28031" y="2414016"/>
            <a:ext cx="3703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23262E"/>
                </a:solidFill>
                <a:latin typeface="Segoe UI"/>
              </a:rPr>
              <a:t>MCP Apps: the official extension</a:t>
            </a:r>
          </a:p>
          <a:p>
            <a:pPr algn="l">
              <a:spcAft>
                <a:spcPts val="100"/>
              </a:spcAft>
            </a:pPr>
            <a:r>
              <a:rPr sz="950" b="1">
                <a:solidFill>
                  <a:srgbClr val="B23A1E"/>
                </a:solidFill>
                <a:latin typeface="Consolas"/>
              </a:rPr>
              <a:t>blog.modelcontextprotocol.io/posts/2026-01-26-mcp-apps</a:t>
            </a:r>
          </a:p>
          <a:p>
            <a:pPr algn="l"/>
            <a:r>
              <a:rPr sz="950" b="0">
                <a:solidFill>
                  <a:srgbClr val="6F7682"/>
                </a:solidFill>
                <a:latin typeface="Segoe UI"/>
              </a:rPr>
              <a:t>Spec, SDK and client support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374136"/>
            <a:ext cx="4023360" cy="960120"/>
          </a:xfrm>
          <a:prstGeom prst="roundRect">
            <a:avLst>
              <a:gd name="adj" fmla="val 6000"/>
            </a:avLst>
          </a:prstGeom>
          <a:solidFill>
            <a:srgbClr val="23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1792" y="3483864"/>
            <a:ext cx="3703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F5B08A"/>
                </a:solidFill>
                <a:latin typeface="Segoe UI"/>
              </a:rPr>
              <a:t>Today's demo kit</a:t>
            </a:r>
          </a:p>
          <a:p>
            <a:pPr algn="l">
              <a:spcAft>
                <a:spcPts val="100"/>
              </a:spcAft>
            </a:pPr>
            <a:r>
              <a:rPr sz="950" b="1">
                <a:solidFill>
                  <a:srgbClr val="FBF4EC"/>
                </a:solidFill>
                <a:latin typeface="Consolas"/>
              </a:rPr>
              <a:t>github.com/bakionur/azure-functions-mcp-cdc</a:t>
            </a:r>
          </a:p>
          <a:p>
            <a:pPr algn="l"/>
            <a:r>
              <a:rPr sz="950" b="0">
                <a:solidFill>
                  <a:srgbClr val="C9CDD6"/>
                </a:solidFill>
                <a:latin typeface="Segoe UI"/>
              </a:rPr>
              <a:t>Four servers, Bicep, scripts. Clone it and azd up</a:t>
            </a:r>
          </a:p>
        </p:txBody>
      </p:sp>
      <p:pic>
        <p:nvPicPr>
          <p:cNvPr id="18" name="Picture 17" descr="QR code: demo code on GitHub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600" y="3310128"/>
            <a:ext cx="933319" cy="10972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897880" y="35661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A4A3F"/>
                </a:solidFill>
              </a:rPr>
              <a:t>Scan for the code: four MCP servers on Azure Functions, one azd up.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DC-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420624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32918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5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5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4846320" y="329184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76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Sept - 01 Oct 2026 · Congress Park Hanau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57200" y="1554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57200" y="192024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Danke, Hanau! Questions?</a:t>
            </a:r>
            <a:endParaRPr lang="en-US" sz="3100" dirty="0"/>
          </a:p>
        </p:txBody>
      </p:sp>
      <p:pic>
        <p:nvPicPr>
          <p:cNvPr id="7" name="Image 1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24912"/>
            <a:ext cx="822960" cy="5029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290779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Onur Okutucu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457200" y="325526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F76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MVP (Azure &amp; AI Foundry) · MCT · CTO, Collabix AI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457200" y="3703320"/>
            <a:ext cx="3794760" cy="731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LinkedIn: linkedin.com/in/bakionur</a:t>
            </a:r>
            <a:pPr indent="0" marL="0">
              <a:spcAft>
                <a:spcPts val="600"/>
              </a:spcAft>
              <a:buNone/>
            </a:pP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Code: github.com/bakionur/azure-functions-mcp-cdc</a:t>
            </a:r>
            <a:pPr indent="0" marL="0">
              <a:spcAft>
                <a:spcPts val="600"/>
              </a:spcAft>
              <a:buNone/>
            </a:pP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309360" y="1554480"/>
            <a:ext cx="2148840" cy="236829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pic>
        <p:nvPicPr>
          <p:cNvPr id="12" name="Image 2" descr="Onur Okutucu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554480"/>
            <a:ext cx="2148840" cy="23682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0" y="46908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76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cdc-germany.de</a:t>
            </a:r>
            <a:endParaRPr lang="en-US" sz="1000" dirty="0"/>
          </a:p>
        </p:txBody>
      </p:sp>
      <p:pic>
        <p:nvPicPr>
          <p:cNvPr id="14" name="Image 3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pic>
        <p:nvPicPr>
          <p:cNvPr id="15" name="Picture 14" descr="QR code: LinkedIn profil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15968" y="3611880"/>
            <a:ext cx="951369" cy="1078992"/>
          </a:xfrm>
          <a:prstGeom prst="rect">
            <a:avLst/>
          </a:prstGeom>
        </p:spPr>
      </p:pic>
      <p:pic>
        <p:nvPicPr>
          <p:cNvPr id="16" name="Picture 15" descr="QR code: demo code on GitHub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03520" y="3611880"/>
            <a:ext cx="917763" cy="107899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DC-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420624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32918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5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5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4846320" y="329184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76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Sept - 01 Oct 2026 · Congress Park Hanau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0" y="102412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300" kern="0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0" y="12618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big thank you to our sponsors!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0" y="2084832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F76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 L A T I N U M</a:t>
            </a:r>
            <a:endParaRPr lang="en-US" sz="1100" dirty="0"/>
          </a:p>
        </p:txBody>
      </p:sp>
      <p:pic>
        <p:nvPicPr>
          <p:cNvPr id="8" name="Image 1" descr="CodeTwo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414016"/>
            <a:ext cx="1965960" cy="728133"/>
          </a:xfrm>
          <a:prstGeom prst="rect">
            <a:avLst/>
          </a:prstGeom>
        </p:spPr>
      </p:pic>
      <p:pic>
        <p:nvPicPr>
          <p:cNvPr id="9" name="Image 2" descr="Medialine Group log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6312" y="2414016"/>
            <a:ext cx="1965960" cy="728133"/>
          </a:xfrm>
          <a:prstGeom prst="rect">
            <a:avLst/>
          </a:prstGeom>
        </p:spPr>
      </p:pic>
      <p:pic>
        <p:nvPicPr>
          <p:cNvPr id="10" name="Image 3" descr="ProLion log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2414016"/>
            <a:ext cx="1965960" cy="728133"/>
          </a:xfrm>
          <a:prstGeom prst="rect">
            <a:avLst/>
          </a:prstGeom>
        </p:spPr>
      </p:pic>
      <p:pic>
        <p:nvPicPr>
          <p:cNvPr id="11" name="Image 4" descr="Lenovo log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7144" y="2414016"/>
            <a:ext cx="1965960" cy="728133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0" y="340156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F76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 O L D</a:t>
            </a:r>
            <a:endParaRPr lang="en-US" sz="1100" dirty="0"/>
          </a:p>
        </p:txBody>
      </p:sp>
      <p:pic>
        <p:nvPicPr>
          <p:cNvPr id="13" name="Image 5" descr="Arrow log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464" y="3730752"/>
            <a:ext cx="1307592" cy="484293"/>
          </a:xfrm>
          <a:prstGeom prst="rect">
            <a:avLst/>
          </a:prstGeom>
        </p:spPr>
      </p:pic>
      <p:pic>
        <p:nvPicPr>
          <p:cNvPr id="14" name="Image 6" descr="bluechip log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37360" y="3730752"/>
            <a:ext cx="1307592" cy="484293"/>
          </a:xfrm>
          <a:prstGeom prst="rect">
            <a:avLst/>
          </a:prstGeom>
        </p:spPr>
      </p:pic>
      <p:pic>
        <p:nvPicPr>
          <p:cNvPr id="15" name="Image 7" descr="xees logo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91256" y="3730752"/>
            <a:ext cx="1307592" cy="484293"/>
          </a:xfrm>
          <a:prstGeom prst="rect">
            <a:avLst/>
          </a:prstGeom>
        </p:spPr>
      </p:pic>
      <p:pic>
        <p:nvPicPr>
          <p:cNvPr id="16" name="Image 8" descr="SVA logo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45152" y="3730752"/>
            <a:ext cx="1307592" cy="484293"/>
          </a:xfrm>
          <a:prstGeom prst="rect">
            <a:avLst/>
          </a:prstGeom>
        </p:spPr>
      </p:pic>
      <p:pic>
        <p:nvPicPr>
          <p:cNvPr id="17" name="Image 9" descr="Thomas-Krenn logo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9048" y="3730752"/>
            <a:ext cx="1307592" cy="484293"/>
          </a:xfrm>
          <a:prstGeom prst="rect">
            <a:avLst/>
          </a:prstGeom>
        </p:spPr>
      </p:pic>
      <p:pic>
        <p:nvPicPr>
          <p:cNvPr id="18" name="Image 10" descr="Wortmann (terra) logo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52944" y="3730752"/>
            <a:ext cx="1307592" cy="484293"/>
          </a:xfrm>
          <a:prstGeom prst="rect">
            <a:avLst/>
          </a:prstGeom>
        </p:spPr>
      </p:pic>
      <p:sp>
        <p:nvSpPr>
          <p:cNvPr id="19" name="Text 6"/>
          <p:cNvSpPr/>
          <p:nvPr/>
        </p:nvSpPr>
        <p:spPr>
          <a:xfrm>
            <a:off x="0" y="46451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F76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cdc-germany.de · 30 September - 01 October 2026 · Congress Park Hanau</a:t>
            </a:r>
            <a:endParaRPr lang="en-US" sz="1000" dirty="0"/>
          </a:p>
        </p:txBody>
      </p:sp>
      <p:pic>
        <p:nvPicPr>
          <p:cNvPr id="20" name="Image 11" descr="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External MCP Servers with Azure Functions</dc:title>
  <dc:subject/>
  <dc:creator>CDC Germany 2026</dc:creator>
  <cp:lastModifiedBy>CDC Germany 2026</cp:lastModifiedBy>
  <cp:revision>1</cp:revision>
  <dcterms:created xsi:type="dcterms:W3CDTF">2026-09-15T09:49:04Z</dcterms:created>
  <dcterms:modified xsi:type="dcterms:W3CDTF">2026-09-15T09:49:04Z</dcterms:modified>
</cp:coreProperties>
</file>