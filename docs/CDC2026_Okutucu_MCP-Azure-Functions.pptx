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64" r:id="rId15"/>
    <p:sldId id="265" r:id="rId16"/>
    <p:sldId id="286" r:id="rId37"/>
    <p:sldId id="266" r:id="rId17"/>
    <p:sldId id="267" r:id="rId18"/>
    <p:sldId id="268" r:id="rId19"/>
    <p:sldId id="272" r:id="rId23"/>
    <p:sldId id="269" r:id="rId20"/>
    <p:sldId id="270" r:id="rId21"/>
    <p:sldId id="277" r:id="rId28"/>
    <p:sldId id="287" r:id="rId38"/>
    <p:sldId id="271" r:id="rId22"/>
    <p:sldId id="289" r:id="rId40"/>
    <p:sldId id="290" r:id="rId41"/>
    <p:sldId id="291" r:id="rId42"/>
    <p:sldId id="292" r:id="rId43"/>
    <p:sldId id="293" r:id="rId44"/>
    <p:sldId id="275" r:id="rId26"/>
    <p:sldId id="288" r:id="rId39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3.xml"/><Relationship Id="rId23" Type="http://schemas.openxmlformats.org/officeDocument/2006/relationships/slide" Target="slides/slide8.xml"/><Relationship Id="rId26" Type="http://schemas.openxmlformats.org/officeDocument/2006/relationships/slide" Target="slides/slide19.xml"/><Relationship Id="rId28" Type="http://schemas.openxmlformats.org/officeDocument/2006/relationships/slide" Target="slides/slide11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7" Type="http://schemas.openxmlformats.org/officeDocument/2006/relationships/slide" Target="slides/slide4.xml"/><Relationship Id="rId38" Type="http://schemas.openxmlformats.org/officeDocument/2006/relationships/slide" Target="slides/slide12.xml"/><Relationship Id="rId39" Type="http://schemas.openxmlformats.org/officeDocument/2006/relationships/slide" Target="slides/slide20.xml"/><Relationship Id="rId40" Type="http://schemas.openxmlformats.org/officeDocument/2006/relationships/slide" Target="slides/slide14.xml"/><Relationship Id="rId41" Type="http://schemas.openxmlformats.org/officeDocument/2006/relationships/slide" Target="slides/slide15.xml"/><Relationship Id="rId42" Type="http://schemas.openxmlformats.org/officeDocument/2006/relationships/slide" Target="slides/slide16.xml"/><Relationship Id="rId43" Type="http://schemas.openxmlformats.org/officeDocument/2006/relationships/slide" Target="slides/slide17.xml"/><Relationship Id="rId4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Relationship Id="rId6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444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700784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External MCP Servers with Azure Functions</a:t>
            </a:r>
            <a:endParaRPr lang="en-US" sz="31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01568"/>
            <a:ext cx="822960" cy="502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5661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Onur Okutucu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3913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MVP (Azure &amp; AI Foundry) · MCT · CTO, Collabix AI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4261104"/>
            <a:ext cx="2212848" cy="338328"/>
          </a:xfrm>
          <a:prstGeom prst="roundRect">
            <a:avLst>
              <a:gd name="adj" fmla="val 48649"/>
            </a:avLst>
          </a:prstGeom>
          <a:solidFill>
            <a:srgbClr val="FBE9DF"/>
          </a:solidFill>
          <a:ln/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457200" y="4261104"/>
            <a:ext cx="22128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23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Thursday · 10:15-11:00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16752" y="1298448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13" name="Image 2" descr="Onur Okutuc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298448"/>
            <a:ext cx="2651760" cy="2926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4690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cdc-germany.de</a:t>
            </a:r>
            <a:endParaRPr lang="en-US" sz="1000" dirty="0"/>
          </a:p>
        </p:txBody>
      </p:sp>
      <p:pic>
        <p:nvPicPr>
          <p:cNvPr id="15" name="Image 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agent is exactly as useful as the tools it can reach.</a:t>
            </a:r>
            <a:endParaRPr lang="en-US" sz="34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822960" cy="502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read. MCP lets them do. Azure Functions makes the doing cheap, secure and boring to operate.</a:t>
            </a:r>
            <a:endParaRPr lang="en-US" sz="1300" dirty="0"/>
          </a:p>
        </p:txBody>
      </p:sp>
      <p:pic>
        <p:nvPicPr>
          <p:cNvPr id="9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next 45 minutes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1571E"/>
                </a:solidFill>
                <a:latin typeface="Segoe U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554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Fundamentals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MCP in five minutes, why Functions, two ways to host, the 401 handshake.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23444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0" y="1417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1571E"/>
                </a:solidFill>
                <a:latin typeface="Segoe U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48840"/>
            <a:ext cx="1554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Four demos, live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Self-hosted, MCP Apps, Entra on-behalf-of, API Center + Foundry.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23444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46320" y="1417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1571E"/>
                </a:solidFill>
                <a:latin typeface="Segoe U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148840"/>
            <a:ext cx="1554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Running it for real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Cold starts, slow tools, keys vs Entra, versioning, war stories.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59" y="1234440"/>
            <a:ext cx="1920240" cy="292608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49440" y="1417320"/>
            <a:ext cx="1554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1571E"/>
                </a:solidFill>
                <a:latin typeface="Segoe U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148840"/>
            <a:ext cx="155448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Take it home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The cheat sheet and a repo you can azd up tonight.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1 · FUNDAMENTALS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fundamentals, fast.</a:t>
            </a:r>
            <a:endParaRPr lang="en-US" sz="34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822960" cy="502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Just enough to make every demo obvious: MCP in one picture, why Functions, two ways to host, the 401 handshake. Twelve minutes, no protocol trivia.</a:t>
            </a:r>
            <a:endParaRPr lang="en-US" sz="1300" dirty="0"/>
          </a:p>
        </p:txBody>
      </p:sp>
      <p:pic>
        <p:nvPicPr>
          <p:cNvPr id="9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in one picture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2029968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ight Arrow 9"/>
          <p:cNvSpPr/>
          <p:nvPr/>
        </p:nvSpPr>
        <p:spPr>
          <a:xfrm>
            <a:off x="2944368" y="2926080"/>
            <a:ext cx="411480" cy="292608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83280" y="2029968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 Arrow 12"/>
          <p:cNvSpPr/>
          <p:nvPr/>
        </p:nvSpPr>
        <p:spPr>
          <a:xfrm>
            <a:off x="5870448" y="2926080"/>
            <a:ext cx="411480" cy="292608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09360" y="2029968"/>
            <a:ext cx="2423160" cy="2103120"/>
          </a:xfrm>
          <a:prstGeom prst="roundRect">
            <a:avLst>
              <a:gd name="adj" fmla="val 6000"/>
            </a:avLst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57200" y="1097280"/>
            <a:ext cx="5166360" cy="80467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1170432"/>
            <a:ext cx="4846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WHAT IS MCP?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23262E"/>
                </a:solidFill>
                <a:latin typeface="Segoe UI"/>
              </a:rPr>
              <a:t>The Model Context Protocol: an open standard that lets any AI app discover tools, call them and read data. Think USB-C for agents: build a server once, plug it into every MCP app.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1097280"/>
            <a:ext cx="2971800" cy="804672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170432"/>
            <a:ext cx="2788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E1571E"/>
                </a:solidFill>
                <a:latin typeface="Segoe UI"/>
              </a:rPr>
              <a:t>Nov 2024  </a:t>
            </a:r>
            <a:r>
              <a:rPr sz="950" b="0">
                <a:solidFill>
                  <a:srgbClr val="23262E"/>
                </a:solidFill>
                <a:latin typeface="Segoe UI"/>
              </a:rPr>
              <a:t>open-sourced by Anthropic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E1571E"/>
                </a:solidFill>
                <a:latin typeface="Segoe UI"/>
              </a:rPr>
              <a:t>2025  </a:t>
            </a:r>
            <a:r>
              <a:rPr sz="950" b="0">
                <a:solidFill>
                  <a:srgbClr val="23262E"/>
                </a:solidFill>
                <a:latin typeface="Segoe UI"/>
              </a:rPr>
              <a:t>OpenAI, Google, Microsoft adopt it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E1571E"/>
                </a:solidFill>
                <a:latin typeface="Segoe UI"/>
              </a:rPr>
              <a:t>Dec 2025  </a:t>
            </a:r>
            <a:r>
              <a:rPr sz="950" b="0">
                <a:solidFill>
                  <a:srgbClr val="23262E"/>
                </a:solidFill>
                <a:latin typeface="Segoe UI"/>
              </a:rPr>
              <a:t>donated to the Linux Foundation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2139696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HOST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The app you talk to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Runs the model, owns the chat and asks for your consent.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F5B08A"/>
                </a:solidFill>
                <a:latin typeface="Segoe UI"/>
              </a:rPr>
              <a:t>FOR EXAMPLE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VS Code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Microsoft 365 Copilot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Claude Desktop, ChatGPT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Foundry agents, your 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8728" y="2139696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CLIENT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3262E"/>
                </a:solidFill>
                <a:latin typeface="Segoe UI"/>
              </a:rPr>
              <a:t>The connector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23262E"/>
                </a:solidFill>
                <a:latin typeface="Segoe UI"/>
              </a:rPr>
              <a:t>Lives inside the host, one per server. Speaks JSON-RPC over stdio or HTTP.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E1571E"/>
                </a:solidFill>
                <a:latin typeface="Segoe UI"/>
              </a:rPr>
              <a:t>FOR EXAMPLE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23262E"/>
                </a:solidFill>
                <a:latin typeface="Segoe UI"/>
              </a:rPr>
              <a:t>· GitHub Copilot (in VS Code)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23262E"/>
                </a:solidFill>
                <a:latin typeface="Segoe UI"/>
              </a:rPr>
              <a:t>· Foundry's MCP tool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23262E"/>
                </a:solidFill>
                <a:latin typeface="Segoe UI"/>
              </a:rPr>
              <a:t>· The MCP SDK in your 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4808" y="2139696"/>
            <a:ext cx="2103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SERVER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Your code, today</a:t>
            </a:r>
          </a:p>
          <a:p>
            <a:pPr>
              <a:spcAft>
                <a:spcPts val="700"/>
              </a:spcAft>
            </a:pPr>
            <a:r>
              <a:rPr sz="950" b="0">
                <a:solidFill>
                  <a:srgbClr val="FFFFFF"/>
                </a:solidFill>
                <a:latin typeface="Segoe UI"/>
              </a:rPr>
              <a:t>Tools (verbs) · Resources (nouns) · Prompts · MCP Apps (UI)</a:t>
            </a:r>
          </a:p>
          <a:p>
            <a:pPr>
              <a:spcAft>
                <a:spcPts val="20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FOR EXAMPLE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Today: 4 Azure Function apps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GitHub, Azure, Playwright</a:t>
            </a:r>
          </a:p>
          <a:p>
            <a:pPr>
              <a:spcAft>
                <a:spcPts val="1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· A Python file on a laptop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4281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23262E"/>
                </a:solidFill>
                <a:latin typeface="Segoe UI"/>
              </a:rPr>
              <a:t>One protocol, any model, any client. Write the server once; every agent in the company can use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is a demo. External is a product.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8229600" cy="2743200"/>
        </p:xfrm>
        <a:graphic>
          <a:graphicData uri="http://schemas.openxmlformats.org/drawingml/2006/table">
            <a:tbl bandRow="0" firstRow="0">
              <a:tblPr firstRow="1" bandRow="1">
                <a:tableStyleId>{5C22544A-7EE6-4342-B048-85BDC9FD1C3A}</a:tableStyleId>
              </a:tblPr>
              <a:tblGrid>
                <a:gridCol w="1737360"/>
                <a:gridCol w="3017520"/>
                <a:gridCol w="34747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Local MCP server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External (remote) MCP server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3262E"/>
                          </a:solidFill>
                          <a:latin typeface="Segoe UI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stdio: a process on your laptop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Streamable HTTP: an endpoint in the cloud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3262E"/>
                          </a:solidFill>
                          <a:latin typeface="Segoe UI"/>
                        </a:rPr>
                        <a:t>Who can use 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You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Your team, your company, your customers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3262E"/>
                          </a:solidFill>
                          <a:latin typeface="Segoe UI"/>
                        </a:rPr>
                        <a:t>Secrets live in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Environment variables and hope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Managed identity, Key Vault, Entra tokens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3262E"/>
                          </a:solidFill>
                          <a:latin typeface="Segoe UI"/>
                        </a:rPr>
                        <a:t>Caller identity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Whoever is at the keyboard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A real user or app, verified per request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3262E"/>
                          </a:solidFill>
                          <a:latin typeface="Segoe UI"/>
                        </a:rPr>
                        <a:t>Scaling &amp; ops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Restart it when it dies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3262E"/>
                          </a:solidFill>
                          <a:latin typeface="Segoe UI"/>
                        </a:rPr>
                        <a:t>Scales on demand; logs, alerts, versions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Azure Functions for MCP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3807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Scale to zero, scale to many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Flex Consumption bills per execution. A server nobody calls costs nothing; one everybody calls just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28031" y="13807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A tool is a function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Triggers and bindings you already know. Blob, Cosmos DB, Service Bus, SQL: one decorator away from any tool.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29809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Auth is built in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Entra ID login per the MCP auth spec, no middleware to write. Keys for dev, OAuth for anything shared.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28031" y="29809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Enterprise plumbing included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VNET integration, API Management in front, App Insights behind. Your platform team already approved all of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ways to host an MCP server on Functions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MCP extension (today's pick)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618488"/>
            <a:ext cx="3977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Tool, resource and prompt triggers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.NET, Java, Python, TypeScript, JavaScript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Apps: tools that return interactive UI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Functions speaks the protocol for you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 auth, system keys, host.json config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MCP endpoint per function app: /runtime/webhooks/mcp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09160" y="123444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23A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SDK server (preview)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09160" y="1618488"/>
            <a:ext cx="3977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Bring an existing FastMCP / SDK server as-is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code changes: runs as a custom handler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Stateless, Streamable HTTP servers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TypeScript, .NET, Java samples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Flex plan, same built-in auth</a:t>
            </a:r>
            <a:endParaRPr lang="en-US" sz="14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when the server already exists</a:t>
            </a:r>
            <a:endParaRPr lang="en-US" sz="1400" dirty="0"/>
          </a:p>
        </p:txBody>
      </p:sp>
      <p:pic>
        <p:nvPicPr>
          <p:cNvPr id="8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10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extension's building blocks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3716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E1571E"/>
                </a:solidFill>
                <a:latin typeface="Consolas"/>
              </a:rPr>
              <a:t>mcp_tool()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78308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Tool = verb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The agent calls it with arguments. Typed parameters become the JSON schema; the docstring is the description.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1234440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24912" y="13716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A9A8F"/>
                </a:solidFill>
                <a:latin typeface="Consolas"/>
              </a:rPr>
              <a:t>mcp_resource_trigger()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2" y="178308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Resource = noun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Data the agent reads by URI: runbooks, configs, a Definition of Done, airports nearby.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234440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28031" y="13716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23262E"/>
                </a:solidFill>
                <a:latin typeface="Consolas"/>
              </a:rPr>
              <a:t>mcp_prompt_trigger()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1" y="178308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Prompt = template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Reusable instructions served by the server (/standup, /plane_spotter) as slash commands in the client.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59" y="1234440"/>
            <a:ext cx="1920240" cy="265176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31151" y="1371600"/>
            <a:ext cx="1600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23A1E"/>
                </a:solidFill>
                <a:latin typeface="Consolas"/>
              </a:rPr>
              <a:t>ui:// + tool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1" y="1783080"/>
            <a:ext cx="1600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MCP Apps = UI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A tool returns an interactive panel instead of a wall of JSON. Renders in VS Code, Claude, M365 Copilot.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tool is just a function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5394960" cy="3108960"/>
          </a:xfrm>
          <a:prstGeom prst="roundRect">
            <a:avLst>
              <a:gd name="adj" fmla="val 4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380744"/>
            <a:ext cx="50292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A9099"/>
                </a:solidFill>
                <a:latin typeface="Consolas"/>
              </a:rPr>
              <a:t># Python · Azure Functions MCP extension (azure-functions ≥ 2.0)</a:t>
            </a:r>
          </a:p>
          <a:p>
            <a:pPr algn="l"/>
            <a:r>
              <a:rPr sz="1000" b="0">
                <a:solidFill>
                  <a:srgbClr val="FBF4EC"/>
                </a:solidFill>
                <a:latin typeface="Consolas"/>
              </a:rPr>
              <a:t>@app.</a:t>
            </a:r>
            <a:r>
              <a:rPr sz="1000" b="0">
                <a:solidFill>
                  <a:srgbClr val="F5B08A"/>
                </a:solidFill>
                <a:latin typeface="Consolas"/>
              </a:rPr>
              <a:t>mcp_tool</a:t>
            </a:r>
            <a:r>
              <a:rPr sz="1000" b="0">
                <a:solidFill>
                  <a:srgbClr val="FBF4EC"/>
                </a:solidFill>
                <a:latin typeface="Consolas"/>
              </a:rPr>
              <a:t>(metadata=RADAR_UI)</a:t>
            </a:r>
          </a:p>
          <a:p>
            <a:pPr algn="l"/>
            <a:r>
              <a:rPr sz="1000" b="0">
                <a:solidFill>
                  <a:srgbClr val="FBF4EC"/>
                </a:solidFill>
                <a:latin typeface="Consolas"/>
              </a:rPr>
              <a:t>@app.</a:t>
            </a:r>
            <a:r>
              <a:rPr sz="1000" b="0">
                <a:solidFill>
                  <a:srgbClr val="F5B08A"/>
                </a:solidFill>
                <a:latin typeface="Consolas"/>
              </a:rPr>
              <a:t>mcp_tool_property</a:t>
            </a:r>
            <a:r>
              <a:rPr sz="1000" b="0">
                <a:solidFill>
                  <a:srgbClr val="FBF4EC"/>
                </a:solidFill>
                <a:latin typeface="Consolas"/>
              </a:rPr>
              <a:t>(arg_name=</a:t>
            </a:r>
            <a:r>
              <a:rPr sz="1000" b="0">
                <a:solidFill>
                  <a:srgbClr val="7FD3C9"/>
                </a:solidFill>
                <a:latin typeface="Consolas"/>
              </a:rPr>
              <a:t>"radius_nm"</a:t>
            </a:r>
            <a:r>
              <a:rPr sz="1000" b="0">
                <a:solidFill>
                  <a:srgbClr val="FBF4EC"/>
                </a:solidFill>
                <a:latin typeface="Consolas"/>
              </a:rPr>
              <a:t>,</a:t>
            </a:r>
          </a:p>
          <a:p>
            <a:pPr algn="l"/>
            <a:r>
              <a:rPr sz="1000" b="0">
                <a:solidFill>
                  <a:srgbClr val="FBF4EC"/>
                </a:solidFill>
                <a:latin typeface="Consolas"/>
              </a:rPr>
              <a:t>    description=</a:t>
            </a:r>
            <a:r>
              <a:rPr sz="1000" b="0">
                <a:solidFill>
                  <a:srgbClr val="7FD3C9"/>
                </a:solidFill>
                <a:latin typeface="Consolas"/>
              </a:rPr>
              <a:t>"Search radius in NM (default 25)"</a:t>
            </a:r>
            <a:r>
              <a:rPr sz="1000" b="0">
                <a:solidFill>
                  <a:srgbClr val="FBF4EC"/>
                </a:solidFill>
                <a:latin typeface="Consolas"/>
              </a:rPr>
              <a:t>)</a:t>
            </a:r>
          </a:p>
          <a:p>
            <a:pPr algn="l"/>
            <a:r>
              <a:rPr sz="1000" b="0">
                <a:solidFill>
                  <a:srgbClr val="F5B08A"/>
                </a:solidFill>
                <a:latin typeface="Consolas"/>
              </a:rPr>
              <a:t>def </a:t>
            </a:r>
            <a:r>
              <a:rPr sz="1000" b="0">
                <a:solidFill>
                  <a:srgbClr val="FBF4EC"/>
                </a:solidFill>
                <a:latin typeface="Consolas"/>
              </a:rPr>
              <a:t>flights_overhead</a:t>
            </a:r>
            <a:r>
              <a:rPr sz="1000" b="0">
                <a:solidFill>
                  <a:srgbClr val="FBF4EC"/>
                </a:solidFill>
                <a:latin typeface="Consolas"/>
              </a:rPr>
              <a:t>(radius_nm: int = 25) -&gt; CallToolResult:</a:t>
            </a:r>
          </a:p>
          <a:p>
            <a:pPr algn="l"/>
            <a:r>
              <a:rPr sz="1000" b="0">
                <a:solidFill>
                  <a:srgbClr val="7FD3C9"/>
                </a:solidFill>
                <a:latin typeface="Consolas"/>
              </a:rPr>
              <a:t>    """What is flying over us right now? Live ADS-B positions."""</a:t>
            </a:r>
          </a:p>
          <a:p>
            <a:pPr algn="l"/>
            <a:r>
              <a:rPr sz="1000" b="0">
                <a:solidFill>
                  <a:srgbClr val="FBF4EC"/>
                </a:solidFill>
                <a:latin typeface="Consolas"/>
              </a:rPr>
              <a:t>    aircraft = fetch_adsb(HOME_LAT, HOME_LON, radius_nm)</a:t>
            </a:r>
          </a:p>
          <a:p>
            <a:pPr algn="l"/>
            <a:r>
              <a:rPr sz="1000" b="0">
                <a:solidFill>
                  <a:srgbClr val="F5B08A"/>
                </a:solidFill>
                <a:latin typeface="Consolas"/>
              </a:rPr>
              <a:t>    return </a:t>
            </a:r>
            <a:r>
              <a:rPr sz="1000" b="0">
                <a:solidFill>
                  <a:srgbClr val="FBF4EC"/>
                </a:solidFill>
                <a:latin typeface="Consolas"/>
              </a:rPr>
              <a:t>CallToolResult(</a:t>
            </a:r>
          </a:p>
          <a:p>
            <a:pPr algn="l"/>
            <a:r>
              <a:rPr sz="1000" b="0">
                <a:solidFill>
                  <a:srgbClr val="FBF4EC"/>
                </a:solidFill>
                <a:latin typeface="Consolas"/>
              </a:rPr>
              <a:t>        content=[TextContent(text=summary(aircraft))],</a:t>
            </a:r>
          </a:p>
          <a:p>
            <a:pPr algn="l"/>
            <a:r>
              <a:rPr sz="1000" b="0">
                <a:solidFill>
                  <a:srgbClr val="FBF4EC"/>
                </a:solidFill>
                <a:latin typeface="Consolas"/>
              </a:rPr>
              <a:t>        structured_content={</a:t>
            </a:r>
            <a:r>
              <a:rPr sz="1000" b="0">
                <a:solidFill>
                  <a:srgbClr val="7FD3C9"/>
                </a:solidFill>
                <a:latin typeface="Consolas"/>
              </a:rPr>
              <a:t>"aircraft"</a:t>
            </a:r>
            <a:r>
              <a:rPr sz="1000" b="0">
                <a:solidFill>
                  <a:srgbClr val="FBF4EC"/>
                </a:solidFill>
                <a:latin typeface="Consolas"/>
              </a:rPr>
              <a:t>: aircraft})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99631" y="1380744"/>
            <a:ext cx="232257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262E"/>
                </a:solidFill>
                <a:latin typeface="Segoe UI"/>
              </a:rPr>
              <a:t>Decorator = manifest</a:t>
            </a:r>
          </a:p>
          <a:p>
            <a:pPr algn="l"/>
            <a:r>
              <a:rPr sz="1050" b="0">
                <a:solidFill>
                  <a:srgbClr val="6F7682"/>
                </a:solidFill>
                <a:latin typeface="Segoe UI"/>
              </a:rPr>
              <a:t>Name and description are what the model reads. Write them for the model.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28600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99631" y="2432304"/>
            <a:ext cx="232257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262E"/>
                </a:solidFill>
                <a:latin typeface="Segoe UI"/>
              </a:rPr>
              <a:t>Parameters = schema</a:t>
            </a:r>
          </a:p>
          <a:p>
            <a:pPr algn="l"/>
            <a:r>
              <a:rPr sz="1050" b="0">
                <a:solidFill>
                  <a:srgbClr val="6F7682"/>
                </a:solidFill>
                <a:latin typeface="Segoe UI"/>
              </a:rPr>
              <a:t>Typed Python args become the tool's JSON schema. No JSON strings.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337560"/>
            <a:ext cx="2651760" cy="91440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99631" y="3483864"/>
            <a:ext cx="2322576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23262E"/>
                </a:solidFill>
                <a:latin typeface="Segoe UI"/>
              </a:rPr>
              <a:t>Return = result</a:t>
            </a:r>
          </a:p>
          <a:p>
            <a:pPr algn="l"/>
            <a:r>
              <a:rPr sz="1050" b="0">
                <a:solidFill>
                  <a:srgbClr val="6F7682"/>
                </a:solidFill>
                <a:latin typeface="Segoe UI"/>
              </a:rPr>
              <a:t>Text, structured JSON, images, links, or a UI. Zero protocol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Security: the 401 handshake, step by step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32588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CLIENT</a:t>
            </a:r>
          </a:p>
          <a:p>
            <a:pPr algn="l"/>
            <a:r>
              <a:rPr sz="1050" b="0">
                <a:solidFill>
                  <a:srgbClr val="23262E"/>
                </a:solidFill>
                <a:latin typeface="Segoe UI"/>
              </a:rPr>
              <a:t>Calls the MCP endpoint with no token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1691640"/>
            <a:ext cx="274320" cy="256032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06040" y="123444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43200" y="132588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FUNCTIONS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Segoe UI"/>
              </a:rPr>
              <a:t>401 + link to Protected Resource Metadata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434840" y="1691640"/>
            <a:ext cx="274320" cy="256032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54880" y="123444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92040" y="132588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ENTRA ID</a:t>
            </a:r>
          </a:p>
          <a:p>
            <a:pPr algn="l"/>
            <a:r>
              <a:rPr sz="1050" b="0">
                <a:solidFill>
                  <a:srgbClr val="23262E"/>
                </a:solidFill>
                <a:latin typeface="Segoe UI"/>
              </a:rPr>
              <a:t>User signs in, consents, gets an access token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583680" y="1691640"/>
            <a:ext cx="274320" cy="256032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03720" y="1234440"/>
            <a:ext cx="1783080" cy="1188720"/>
          </a:xfrm>
          <a:prstGeom prst="roundRect">
            <a:avLst>
              <a:gd name="adj" fmla="val 6000"/>
            </a:avLst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40880" y="132588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>
                <a:solidFill>
                  <a:srgbClr val="FBE9DF"/>
                </a:solidFill>
                <a:latin typeface="Segoe UI"/>
              </a:rPr>
              <a:t>TOOL RUNS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Segoe UI"/>
              </a:rPr>
              <a:t>Token validated; the caller's identity is in your code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6974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792" y="2843784"/>
            <a:ext cx="2322576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262E"/>
                </a:solidFill>
                <a:latin typeface="Segoe UI"/>
              </a:rPr>
              <a:t>Built-in auth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App Service authentication does the OAuth dance per the MCP spec, all in Bicep. You configure, you don't code.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26974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10712" y="2843784"/>
            <a:ext cx="2322576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262E"/>
                </a:solidFill>
                <a:latin typeface="Segoe UI"/>
              </a:rPr>
              <a:t>On-behalf-of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Exchange the user's token for Graph, ARM, Azure DevOps. The tool acts as the user, with the user's rights.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35040" y="2697480"/>
            <a:ext cx="2651760" cy="169164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99631" y="2843784"/>
            <a:ext cx="2322576" cy="1399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3262E"/>
                </a:solidFill>
                <a:latin typeface="Segoe UI"/>
              </a:rPr>
              <a:t>Belt and braces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API Management as the gateway for policies and rate limits; VNET integration so the app is never public.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2 · FOUR DEMOS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servers, four superpowers.</a:t>
            </a:r>
            <a:endParaRPr lang="en-US" sz="34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822960" cy="502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one: what it does, which tools it has, which kind of MCP server, which Functions feature. Then we run it live.</a:t>
            </a:r>
            <a:endParaRPr lang="en-US" sz="1300" dirty="0"/>
          </a:p>
        </p:txBody>
      </p:sp>
      <p:pic>
        <p:nvPicPr>
          <p:cNvPr id="9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demo map: one story, four acts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8229600" cy="2834640"/>
        </p:xfrm>
        <a:graphic>
          <a:graphicData uri="http://schemas.openxmlformats.org/drawingml/2006/table">
            <a:tbl bandRow="0" firstRow="0">
              <a:tblPr firstRow="1" bandRow="1">
                <a:tableStyleId>{5C22544A-7EE6-4342-B048-85BDC9FD1C3A}</a:tableStyleId>
              </a:tblPr>
              <a:tblGrid>
                <a:gridCol w="365760"/>
                <a:gridCol w="1234440"/>
                <a:gridCol w="1600200"/>
                <a:gridCol w="2743200"/>
                <a:gridCol w="228600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Server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Kind of MCP server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Superpower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Functions feature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concierge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Self-hosted MCP SDK server (Python)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Lift and shift: the same file on my laptop and in the cloud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Custom handler, function key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2a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skywatch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Functions MCP extension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Tools with a face: a live radar inside the chat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Tool, resource and prompt triggers; MCP App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2b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domainforge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Functions MCP extension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Buttons that do things: Reserve writes to storage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MCP App + Blob output binding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adopilot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MCP extension + built-in auth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It knows who you are and acts as you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Entra auth, managed identity, on-behalf-of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all of them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API Center + Foundry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Find it, reuse it, with a human approving writes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Registry API, project connections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1 · concierge: one file, two homes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097280"/>
            <a:ext cx="1722729" cy="2468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72272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Self-hosted MCP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1369" y="1097280"/>
            <a:ext cx="1196035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71369" y="1097280"/>
            <a:ext cx="1196035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MCP Python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844" y="1097280"/>
            <a:ext cx="1788566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58844" y="1097280"/>
            <a:ext cx="178856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stdio → Streamable HTTP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38851" y="1097280"/>
            <a:ext cx="1064361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38851" y="1097280"/>
            <a:ext cx="1064361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Function key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81328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1591056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WHAT IT DOES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Your conference buddy. Answers 'where, when, what's on' from the live CDC agenda (public API, with a snapshot fallback).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743200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2852928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WHY YOU'D WANT THIS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You already have an MCP server? Move it to Azure without changing a line: add a host.json, deploy, share a URL.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481328"/>
            <a:ext cx="4114800" cy="2432304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1600200"/>
            <a:ext cx="3794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INSIDE THE SERVER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find_session · whats_on</a:t>
            </a:r>
            <a:r>
              <a:rPr sz="950" b="0">
                <a:solidFill>
                  <a:srgbClr val="FBF4EC"/>
                </a:solidFill>
                <a:latin typeface="Segoe UI"/>
              </a:rPr>
              <a:t>  search, and what's on right now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breaks · plan_my_day</a:t>
            </a:r>
            <a:r>
              <a:rPr sz="950" b="0">
                <a:solidFill>
                  <a:srgbClr val="FBF4EC"/>
                </a:solidFill>
                <a:latin typeface="Segoe UI"/>
              </a:rPr>
              <a:t>  lunch, coffee, a personal plan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speaker_info · session_status</a:t>
            </a:r>
            <a:r>
              <a:rPr sz="950" b="0">
                <a:solidFill>
                  <a:srgbClr val="FBF4EC"/>
                </a:solidFill>
                <a:latin typeface="Segoe UI"/>
              </a:rPr>
              <a:t>  who, and where it runs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coffee_check · buzzword_bingo</a:t>
            </a:r>
            <a:r>
              <a:rPr sz="950" b="0">
                <a:solidFill>
                  <a:srgbClr val="FBF4EC"/>
                </a:solidFill>
                <a:latin typeface="Segoe UI"/>
              </a:rPr>
              <a:t>  just for fun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UNDER THE HOOD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Plain MCPServer + @mcp.tool(): 9 tools, zero Azure code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host.json: configurationProfile mcp-custom-handler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Endpoint /mcp, stateless HTTP, scales to zero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023360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TRY IT   </a:t>
            </a:r>
            <a:r>
              <a:rPr sz="1150" b="0" i="1">
                <a:solidFill>
                  <a:srgbClr val="23262E"/>
                </a:solidFill>
                <a:latin typeface="Segoe UI"/>
              </a:rPr>
              <a:t>"Where is Onur's session, and when is lunch?"  Local first, then the same question to Azure.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2a · skywatch: a radar in the chat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097280"/>
            <a:ext cx="1130198" cy="2468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3019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MCP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78838" y="1097280"/>
            <a:ext cx="1261872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8838" y="1097280"/>
            <a:ext cx="126187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MCP App (ui://)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2150" y="1097280"/>
            <a:ext cx="801014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2150" y="1097280"/>
            <a:ext cx="80101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Resource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24604" y="1097280"/>
            <a:ext cx="669340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4604" y="1097280"/>
            <a:ext cx="6693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5385" y="1097280"/>
            <a:ext cx="1064361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5385" y="1097280"/>
            <a:ext cx="1064361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Function key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81328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591056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WHAT IT DOES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Live aircraft over Hanau (ADS-B), with airline and route, drawn as an interactive radar that refreshes itself inside the chat.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52928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WHY YOU'D WANT THIS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Agents answer with walls of JSON. With MCP Apps a tool returns real UI: tables, maps, charts, in VS Code, M365 Copilot and more.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481328"/>
            <a:ext cx="4114800" cy="2432304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1600200"/>
            <a:ext cx="3794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INSIDE THE SERVER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flights_overhead</a:t>
            </a:r>
            <a:r>
              <a:rPr sz="950" b="0">
                <a:solidFill>
                  <a:srgbClr val="FBF4EC"/>
                </a:solidFill>
                <a:latin typeface="Segoe UI"/>
              </a:rPr>
              <a:t>  the radar widget (MCP App)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radar_image</a:t>
            </a:r>
            <a:r>
              <a:rPr sz="950" b="0">
                <a:solidFill>
                  <a:srgbClr val="FBF4EC"/>
                </a:solidFill>
                <a:latin typeface="Segoe UI"/>
              </a:rPr>
              <a:t>  PNG for clients without MCP Apps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find_flight</a:t>
            </a:r>
            <a:r>
              <a:rPr sz="950" b="0">
                <a:solidFill>
                  <a:srgbClr val="FBF4EC"/>
                </a:solidFill>
                <a:latin typeface="Segoe UI"/>
              </a:rPr>
              <a:t>  one flight by callsign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airports://nearby</a:t>
            </a:r>
            <a:r>
              <a:rPr sz="950" b="0">
                <a:solidFill>
                  <a:srgbClr val="FBF4EC"/>
                </a:solidFill>
                <a:latin typeface="Segoe UI"/>
              </a:rPr>
              <a:t>  resource: nearby airports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/plane_spotter</a:t>
            </a:r>
            <a:r>
              <a:rPr sz="950" b="0">
                <a:solidFill>
                  <a:srgbClr val="FBF4EC"/>
                </a:solidFill>
                <a:latin typeface="Segoe UI"/>
              </a:rPr>
              <a:t>  prompt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UNDER THE HOOD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Tool metadata points at ui://skywatch/radar.html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A resource trigger serves the widget; it polls every 15 s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adsb.lol with OpenSky fallback · routes from adsbdb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23360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TRY IT   </a:t>
            </a:r>
            <a:r>
              <a:rPr sz="1150" b="0" i="1">
                <a:solidFill>
                  <a:srgbClr val="23262E"/>
                </a:solidFill>
                <a:latin typeface="Segoe UI"/>
              </a:rPr>
              <a:t>"What's flying over us right now?"  Then: "Where are the three nearest planes going?"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2b · domainforge: buttons that do things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097280"/>
            <a:ext cx="1130198" cy="2468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3019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MCP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78838" y="1097280"/>
            <a:ext cx="735177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8838" y="1097280"/>
            <a:ext cx="735177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MCP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05456" y="1097280"/>
            <a:ext cx="1525219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1097280"/>
            <a:ext cx="152521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Blob output binding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22115" y="1097280"/>
            <a:ext cx="669340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22115" y="1097280"/>
            <a:ext cx="66934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2896" y="1097280"/>
            <a:ext cx="1130198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82896" y="1097280"/>
            <a:ext cx="113019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Deterministic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81328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591056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WHAT IT DOES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Invents pun domain names for a business and a city, checks them live, and shows a picker. Reserve books one.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52928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WHY YOU'D WANT THIS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The UI isn't just a display: a click calls your server back. And Functions bindings write to Blob, Cosmos DB or Service Bus in one line.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481328"/>
            <a:ext cx="4114800" cy="2432304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1600200"/>
            <a:ext cx="3794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INSIDE THE SERVER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brainstorm_domains</a:t>
            </a:r>
            <a:r>
              <a:rPr sz="950" b="0">
                <a:solidFill>
                  <a:srgbClr val="FBF4EC"/>
                </a:solidFill>
                <a:latin typeface="Segoe UI"/>
              </a:rPr>
              <a:t>  obvious names first, then puns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check_domains</a:t>
            </a:r>
            <a:r>
              <a:rPr sz="950" b="0">
                <a:solidFill>
                  <a:srgbClr val="FBF4EC"/>
                </a:solidFill>
                <a:latin typeface="Segoe UI"/>
              </a:rPr>
              <a:t>  availability picker (MCP App)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reserve_domain</a:t>
            </a:r>
            <a:r>
              <a:rPr sz="950" b="0">
                <a:solidFill>
                  <a:srgbClr val="FBF4EC"/>
                </a:solidFill>
                <a:latin typeface="Segoe UI"/>
              </a:rPr>
              <a:t>  writes a JSON ticket to Blob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/name_my_business</a:t>
            </a:r>
            <a:r>
              <a:rPr sz="950" b="0">
                <a:solidFill>
                  <a:srgbClr val="FBF4EC"/>
                </a:solidFill>
                <a:latin typeface="Segoe UI"/>
              </a:rPr>
              <a:t>  the prompt that runs it all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UNDER THE HOOD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RDAP lookup, DNS-over-HTTPS fallback for .de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Widget → callServerTool('reserve_domain')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func.Out[str] + Blob binding, managed identity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23360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TRY IT   </a:t>
            </a:r>
            <a:r>
              <a:rPr sz="1150" b="0" i="1">
                <a:solidFill>
                  <a:srgbClr val="23262E"/>
                </a:solidFill>
                <a:latin typeface="Segoe UI"/>
              </a:rPr>
              <a:t>/name_my_business → pizza, Hanau → click Reserve → check the reservations container.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3 · adopilot: it knows who you are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097280"/>
            <a:ext cx="1130198" cy="2468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3019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MCP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78838" y="1097280"/>
            <a:ext cx="1525219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78838" y="1097280"/>
            <a:ext cx="1525219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Built-in Entra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5497" y="1097280"/>
            <a:ext cx="1064361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5497" y="1097280"/>
            <a:ext cx="1064361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On-behalf-of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1299" y="1097280"/>
            <a:ext cx="1393545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1299" y="1097280"/>
            <a:ext cx="1393545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Resource + prompt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36284" y="1097280"/>
            <a:ext cx="932688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36284" y="1097280"/>
            <a:ext cx="93268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No secrets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81328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591056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WHAT IT DOES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Your Azure DevOps sidekick: sprint board, bugs, pipelines, and filing a bug, all as the signed-in user.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52928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WHY YOU'D WANT THIS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Shared tools need identity. 401, sign in, and the tool acts with your permissions, audited, with no PAT or client secret anywhere.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481328"/>
            <a:ext cx="4114800" cy="2432304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1600200"/>
            <a:ext cx="3794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INSIDE THE SERVER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whoami</a:t>
            </a:r>
            <a:r>
              <a:rPr sz="950" b="0">
                <a:solidFill>
                  <a:srgbClr val="FBF4EC"/>
                </a:solidFill>
                <a:latin typeface="Segoe UI"/>
              </a:rPr>
              <a:t>  Microsoft Graph /me, as you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sprint_board · open_bugs</a:t>
            </a:r>
            <a:r>
              <a:rPr sz="950" b="0">
                <a:solidFill>
                  <a:srgbClr val="FBF4EC"/>
                </a:solidFill>
                <a:latin typeface="Segoe UI"/>
              </a:rPr>
              <a:t>  Azure DevOps, as you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pipeline_health</a:t>
            </a:r>
            <a:r>
              <a:rPr sz="950" b="0">
                <a:solidFill>
                  <a:srgbClr val="FBF4EC"/>
                </a:solidFill>
                <a:latin typeface="Segoe UI"/>
              </a:rPr>
              <a:t>  recent pipeline runs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create_bug</a:t>
            </a:r>
            <a:r>
              <a:rPr sz="950" b="0">
                <a:solidFill>
                  <a:srgbClr val="FBF4EC"/>
                </a:solidFill>
                <a:latin typeface="Segoe UI"/>
              </a:rPr>
              <a:t>  confirms first, stamped with you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/standup</a:t>
            </a:r>
            <a:r>
              <a:rPr sz="950" b="0">
                <a:solidFill>
                  <a:srgbClr val="FBF4EC"/>
                </a:solidFill>
                <a:latin typeface="Segoe UI"/>
              </a:rPr>
              <a:t>  prompt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ado://team/definition-of-done</a:t>
            </a:r>
            <a:r>
              <a:rPr sz="950" b="0">
                <a:solidFill>
                  <a:srgbClr val="FBF4EC"/>
                </a:solidFill>
                <a:latin typeface="Segoe UI"/>
              </a:rPr>
              <a:t>  resource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UNDER THE HOOD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authsettingsV2 + protected resource metadata, all Bicep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Federated credential from a managed identity, no secret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23360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TRY IT   </a:t>
            </a:r>
            <a:r>
              <a:rPr sz="1150" b="0" i="1">
                <a:solidFill>
                  <a:srgbClr val="23262E"/>
                </a:solidFill>
                <a:latin typeface="Segoe UI"/>
              </a:rPr>
              <a:t>"Who am I signed in as?"  Then paste a complaint: "Turn that into a P2 bug and assign it to me."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4 · find it, reuse it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097280"/>
            <a:ext cx="1327708" cy="246888"/>
          </a:xfrm>
          <a:prstGeom prst="roundRect">
            <a:avLst>
              <a:gd name="adj" fmla="val 50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32770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FFFFFF"/>
                </a:solidFill>
                <a:latin typeface="Segoe UI"/>
              </a:rPr>
              <a:t>Azure API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6348" y="1097280"/>
            <a:ext cx="1064361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76348" y="1097280"/>
            <a:ext cx="1064361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MCP registry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2150" y="1097280"/>
            <a:ext cx="932688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2150" y="1097280"/>
            <a:ext cx="932688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Entra only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56278" y="1097280"/>
            <a:ext cx="1656892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6278" y="1097280"/>
            <a:ext cx="1656892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Foundry Agent Service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04611" y="1097280"/>
            <a:ext cx="1196035" cy="246888"/>
          </a:xfrm>
          <a:prstGeom prst="roundRect">
            <a:avLst>
              <a:gd name="adj" fmla="val 50000"/>
            </a:avLst>
          </a:prstGeom>
          <a:solidFill>
            <a:srgbClr val="FBE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4611" y="1097280"/>
            <a:ext cx="1196035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Human approval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81328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1591056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WHAT IT DOES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A private catalog of all four servers, and a Foundry agent that uses skywatch and domainforge with no new code.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743200"/>
            <a:ext cx="3931920" cy="1170432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2852928"/>
            <a:ext cx="3611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WHY YOU'D WANT THIS</a:t>
            </a:r>
          </a:p>
          <a:p>
            <a:pPr>
              <a:spcAft>
                <a:spcPts val="0"/>
              </a:spcAft>
            </a:pPr>
            <a:r>
              <a:rPr sz="1200" b="0">
                <a:solidFill>
                  <a:srgbClr val="23262E"/>
                </a:solidFill>
                <a:latin typeface="Segoe UI"/>
              </a:rPr>
              <a:t>Fifty teams, fifty MCP servers: people need to find them, trust them and reuse them from any agent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1481328"/>
            <a:ext cx="4114800" cy="2432304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1600200"/>
            <a:ext cx="379476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5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INSIDE THE SERVER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API Center</a:t>
            </a:r>
            <a:r>
              <a:rPr sz="950" b="0">
                <a:solidFill>
                  <a:srgbClr val="FBF4EC"/>
                </a:solidFill>
                <a:latin typeface="Segoe UI"/>
              </a:rPr>
              <a:t>  4 servers registered as kind 'mcp' in Bicep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registry API v0.1</a:t>
            </a:r>
            <a:r>
              <a:rPr sz="950" b="0">
                <a:solidFill>
                  <a:srgbClr val="FBF4EC"/>
                </a:solidFill>
                <a:latin typeface="Segoe UI"/>
              </a:rPr>
              <a:t>  Entra sign-in, Data Reader role</a:t>
            </a:r>
          </a:p>
          <a:p>
            <a:pPr>
              <a:spcAft>
                <a:spcPts val="3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Foundry agent</a:t>
            </a:r>
            <a:r>
              <a:rPr sz="950" b="0">
                <a:solidFill>
                  <a:srgbClr val="FBF4EC"/>
                </a:solidFill>
                <a:latin typeface="Segoe UI"/>
              </a:rPr>
              <a:t>  MCP tools via project connections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F5B08A"/>
                </a:solidFill>
                <a:latin typeface="Consolas"/>
              </a:rPr>
              <a:t>require_approval</a:t>
            </a:r>
            <a:r>
              <a:rPr sz="950" b="0">
                <a:solidFill>
                  <a:srgbClr val="FBF4EC"/>
                </a:solidFill>
                <a:latin typeface="Segoe UI"/>
              </a:rPr>
              <a:t>  reads free, reserve_domain waits</a:t>
            </a:r>
          </a:p>
          <a:p>
            <a:pPr>
              <a:spcAft>
                <a:spcPts val="3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UNDER THE HOOD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Same servers, a third client, zero client code</a:t>
            </a:r>
          </a:p>
          <a:p>
            <a:pPr>
              <a:spcAft>
                <a:spcPts val="200"/>
              </a:spcAft>
            </a:pPr>
            <a:r>
              <a:rPr sz="950" b="0">
                <a:solidFill>
                  <a:srgbClr val="FBF4EC"/>
                </a:solidFill>
                <a:latin typeface="Segoe UI"/>
              </a:rPr>
              <a:t>Optional: APIM in front for keys, quotas, rate limits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023360"/>
            <a:ext cx="7955279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3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TRY IT   </a:t>
            </a:r>
            <a:r>
              <a:rPr sz="1150" b="0" i="1">
                <a:solidFill>
                  <a:srgbClr val="23262E"/>
                </a:solidFill>
                <a:latin typeface="Segoe UI"/>
              </a:rPr>
              <a:t>"What's flying over Hanau? Name a pizza place after the nearest airline and reserve it."  Approve.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running: one azd up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80160"/>
            <a:ext cx="1737360" cy="283464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426463"/>
            <a:ext cx="1408176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F5B08A"/>
                </a:solidFill>
                <a:latin typeface="Segoe UI"/>
              </a:rPr>
              <a:t>AGENTS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Any MCP client</a:t>
            </a:r>
          </a:p>
          <a:p>
            <a:pPr algn="l"/>
            <a:r>
              <a:rPr sz="1100" b="0">
                <a:solidFill>
                  <a:srgbClr val="C9CDD6"/>
                </a:solidFill>
                <a:latin typeface="Segoe UI"/>
              </a:rPr>
              <a:t>VS Code Copilot</a:t>
            </a:r>
          </a:p>
          <a:p>
            <a:pPr algn="l"/>
            <a:r>
              <a:rPr sz="1100" b="0">
                <a:solidFill>
                  <a:srgbClr val="C9CDD6"/>
                </a:solidFill>
                <a:latin typeface="Segoe UI"/>
              </a:rPr>
              <a:t>M365 Copilot</a:t>
            </a:r>
          </a:p>
          <a:p>
            <a:pPr algn="l"/>
            <a:r>
              <a:rPr sz="1100" b="0">
                <a:solidFill>
                  <a:srgbClr val="C9CDD6"/>
                </a:solidFill>
                <a:latin typeface="Segoe UI"/>
              </a:rPr>
              <a:t>Foundry agent</a:t>
            </a:r>
          </a:p>
          <a:p>
            <a:pPr algn="l"/>
            <a:r>
              <a:rPr sz="1100" b="0">
                <a:solidFill>
                  <a:srgbClr val="C9CDD6"/>
                </a:solidFill>
                <a:latin typeface="Segoe UI"/>
              </a:rPr>
              <a:t>Your own app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2560320"/>
            <a:ext cx="365760" cy="274320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12848" y="2907792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F7682"/>
                </a:solidFill>
                <a:latin typeface="Segoe UI"/>
              </a:rPr>
              <a:t>HTTP + key or Entra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28016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26080" y="137160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adopilot · Entra</a:t>
            </a:r>
          </a:p>
          <a:p>
            <a:pPr algn="l"/>
            <a:r>
              <a:rPr sz="850" b="0">
                <a:solidFill>
                  <a:srgbClr val="FBE9DF"/>
                </a:solidFill>
                <a:latin typeface="Consolas"/>
              </a:rPr>
              <a:t>whoami · sprint_board · open_bugs · create_bug · pipeline_health · /standup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88920" y="224028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926080" y="233172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skywatch · MCP App</a:t>
            </a:r>
          </a:p>
          <a:p>
            <a:pPr algn="l"/>
            <a:r>
              <a:rPr sz="850" b="0">
                <a:solidFill>
                  <a:srgbClr val="FBE9DF"/>
                </a:solidFill>
                <a:latin typeface="Consolas"/>
              </a:rPr>
              <a:t>flights_overhead (radar) · radar_image · find_flight · airports://nearby · /plane_spotter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320040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926080" y="3291840"/>
            <a:ext cx="3108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domainforge · MCP App</a:t>
            </a:r>
          </a:p>
          <a:p>
            <a:pPr algn="l"/>
            <a:r>
              <a:rPr sz="850" b="0">
                <a:solidFill>
                  <a:srgbClr val="FBE9DF"/>
                </a:solidFill>
                <a:latin typeface="Consolas"/>
              </a:rPr>
              <a:t>brainstorm_domains · check_domains (picker) · reserve_domain (Blob) · /name_my_business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41605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B23A1E"/>
                </a:solidFill>
                <a:latin typeface="Segoe UI"/>
              </a:rPr>
              <a:t>+ concierge (self-hosted) · API Center · Foundry · 1 Bicep · 1 azd up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263640" y="2560320"/>
            <a:ext cx="365760" cy="274320"/>
          </a:xfrm>
          <a:prstGeom prst="rightArrow">
            <a:avLst/>
          </a:prstGeom>
          <a:solidFill>
            <a:srgbClr val="E15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2907792"/>
            <a:ext cx="502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F7682"/>
                </a:solidFill>
                <a:latin typeface="Segoe UI"/>
              </a:rPr>
              <a:t>Managed identity · OBO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0" y="1280160"/>
            <a:ext cx="1920240" cy="283464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931152" y="1426463"/>
            <a:ext cx="1591056" cy="2542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E1571E"/>
                </a:solidFill>
                <a:latin typeface="Segoe UI"/>
              </a:rPr>
              <a:t>BACKENDS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3262E"/>
                </a:solidFill>
                <a:latin typeface="Segoe UI"/>
              </a:rPr>
              <a:t>APIs &amp; storage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Graph · Azure DevOps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adsb.lol · adsbdb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RDAP + DNS</a:t>
            </a:r>
          </a:p>
          <a:p>
            <a:pPr algn="l"/>
            <a:r>
              <a:rPr sz="1100" b="0">
                <a:solidFill>
                  <a:srgbClr val="6F7682"/>
                </a:solidFill>
                <a:latin typeface="Segoe UI"/>
              </a:rPr>
              <a:t>Blob Storage · App Insights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3 · TAKE IT HOME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217627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 for real.</a:t>
            </a:r>
            <a:endParaRPr lang="en-US" sz="34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63240"/>
            <a:ext cx="822960" cy="502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Cold starts, slow tools, keys vs Entra, versioning, the lessons we paid for, and the code.</a:t>
            </a:r>
            <a:endParaRPr lang="en-US" sz="1300" dirty="0"/>
          </a:p>
        </p:txBody>
      </p:sp>
      <p:pic>
        <p:nvPicPr>
          <p:cNvPr id="9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Running it for real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8229600" cy="3017520"/>
        </p:xfrm>
        <a:graphic>
          <a:graphicData uri="http://schemas.openxmlformats.org/drawingml/2006/table">
            <a:tbl bandRow="0" firstRow="0">
              <a:tblPr firstRow="1" bandRow="1">
                <a:tableStyleId>{5C22544A-7EE6-4342-B048-85BDC9FD1C3A}</a:tableStyleId>
              </a:tblPr>
              <a:tblGrid>
                <a:gridCol w="1554480"/>
                <a:gridCol w="6675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Concern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to do about it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62E"/>
                          </a:solidFill>
                          <a:latin typeface="Segoe UI"/>
                        </a:rPr>
                        <a:t>Cold starts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Segoe UI"/>
                        </a:rPr>
                        <a:t>Flex Consumption always-ready instances for servers people actually use; let the rest scale to zero.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62E"/>
                          </a:solidFill>
                          <a:latin typeface="Segoe UI"/>
                        </a:rPr>
                        <a:t>Slow 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Segoe UI"/>
                        </a:rPr>
                        <a:t>Keep a tool under a few seconds. Longer work starts a Durable orchestration and returns a status the agent can poll.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62E"/>
                          </a:solidFill>
                          <a:latin typeface="Segoe UI"/>
                        </a:rPr>
                        <a:t>Observability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Segoe UI"/>
                        </a:rPr>
                        <a:t>Every tool call is a function invocation in App Insights: who called what, with which arguments, how long.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62E"/>
                          </a:solidFill>
                          <a:latin typeface="Segoe UI"/>
                        </a:rPr>
                        <a:t>Keys vs OAuth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Segoe UI"/>
                        </a:rPr>
                        <a:t>Keys for local dev and smoke tests only. Shared servers: Entra + on-behalf-of. No PAT, no client secret, ideally behind APIM.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3262E"/>
                          </a:solidFill>
                          <a:latin typeface="Segoe UI"/>
                        </a:rPr>
                        <a:t>Versioning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3262E"/>
                          </a:solidFill>
                          <a:latin typeface="Segoe UI"/>
                        </a:rPr>
                        <a:t>Tool names and descriptions are your API contract. Add tools freely; rename or change semantics only with a new server.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on Functions in 2026: the cheat sheet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234440"/>
          <a:ext cx="8229600" cy="3127248"/>
        </p:xfrm>
        <a:graphic>
          <a:graphicData uri="http://schemas.openxmlformats.org/drawingml/2006/table">
            <a:tbl bandRow="0" firstRow="0"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3657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In the demo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One sentence</a:t>
                      </a:r>
                    </a:p>
                  </a:txBody>
                  <a:tcPr marL="91440" marR="91440" marT="45720" marB="45720" anchor="ctr">
                    <a:solidFill>
                      <a:srgbClr val="23262E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Typed Python decorators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every @app.mcp_tool()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The parameter is the schema, the docstring is the prompt.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Structured content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sprint_board, flights_overhead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Typed objects for UIs and code; text for humans. Same call.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API Center + Foundry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registry, Foundry agent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How others find your tools and reuse them from another agent platform.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Resource + prompt triggers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definition-of-done, /standup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The team's playbook, versioned with the server.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MCP Apps (official extension)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radar, domain picker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Tool returns UI. VS Code, M365 Copilot and other MCP Apps hosts. No client code.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Bindings next to tools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reserve_domain → Blob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Swap Blob for Cosmos, SQL or Service Bus in one line.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Built-in auth + on-behalf-of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adopilot (all Bicep)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The 401 is the server asking who you are; then it acts as you.</a:t>
                      </a:r>
                    </a:p>
                  </a:txBody>
                  <a:tcPr marL="91440" marR="91440" marT="45720" marB="45720" anchor="ctr">
                    <a:solidFill>
                      <a:srgbClr val="FAF7F4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3262E"/>
                          </a:solidFill>
                          <a:latin typeface="Segoe UI"/>
                        </a:rPr>
                        <a:t>Self-hosted SDK servers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concierge (Demo 1)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3262E"/>
                          </a:solidFill>
                          <a:latin typeface="Segoe UI"/>
                        </a:rPr>
                        <a:t>Lift-and-shift an existing FastMCP server. Same platform.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Field notes from building these for real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3807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Tool descriptions are prompts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Real bug from this demo: "e.g. 'Active'" in a parameter description made the agent filter a Scrum board to nothing. Fixed in the description.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28031" y="13807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Five sharp tools beat forty vague ones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Every tool costs context and confuses selection. Wrap intent, not every REST endpoint you 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346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29809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Return structure, not prose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Compact JSON with stable keys. The agent will narrate it; you don't have 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834640"/>
            <a:ext cx="4023360" cy="1417320"/>
          </a:xfrm>
          <a:prstGeom prst="roundRect">
            <a:avLst>
              <a:gd name="adj" fmla="val 6000"/>
            </a:avLst>
          </a:prstGeom>
          <a:solidFill>
            <a:srgbClr val="FBE9DF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28031" y="2980944"/>
            <a:ext cx="3694176" cy="11247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3262E"/>
                </a:solidFill>
                <a:latin typeface="Segoe UI"/>
              </a:rPr>
              <a:t>Auth on day one: test it with the real client</a:t>
            </a:r>
          </a:p>
          <a:p>
            <a:pPr algn="l"/>
            <a:r>
              <a:rPr sz="1150" b="0">
                <a:solidFill>
                  <a:srgbClr val="6F7682"/>
                </a:solidFill>
                <a:latin typeface="Segoe UI"/>
              </a:rPr>
              <a:t>Start with Entra; it's Bicep, not a refactor. VS Code sends an RFC 8707 resource: register the server URL on the app.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things to take back to the datacenter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1571E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44168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262E"/>
                </a:solidFill>
                <a:latin typeface="Segoe UI"/>
              </a:rPr>
              <a:t>An MCP server on Azure Functions is one decorator on a function you were going to write anyway.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0080" y="242316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1571E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95728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Segoe UI"/>
              </a:rPr>
              <a:t>External means identity: the 401 handshake and Entra make the agent act as a real person with real permissions.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8229600" cy="91440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E1571E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47288"/>
            <a:ext cx="71323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262E"/>
                </a:solidFill>
                <a:latin typeface="Segoe UI"/>
              </a:rPr>
              <a:t>Start small: three tools, one resource, one prompt, azd up, then register it in API Center so others find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Steal these links</a:t>
            </a:r>
            <a:endParaRPr lang="en-US" sz="2400" dirty="0"/>
          </a:p>
        </p:txBody>
      </p:sp>
      <p:pic>
        <p:nvPicPr>
          <p:cNvPr id="3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32688"/>
            <a:ext cx="822960" cy="50292"/>
          </a:xfrm>
          <a:prstGeom prst="rect">
            <a:avLst/>
          </a:prstGeom>
        </p:spPr>
      </p:pic>
      <p:pic>
        <p:nvPicPr>
          <p:cNvPr id="5" name="Image 1" descr="CDC-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4690872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6096" y="4690872"/>
            <a:ext cx="1380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1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100" dirty="0"/>
          </a:p>
        </p:txBody>
      </p:sp>
      <p:pic>
        <p:nvPicPr>
          <p:cNvPr id="7" name="Image 2" descr="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1234440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1792" y="1344168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3262E"/>
                </a:solidFill>
                <a:latin typeface="Segoe UI"/>
              </a:rPr>
              <a:t>Remote MCP on Functions: landing page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B23A1E"/>
                </a:solidFill>
                <a:latin typeface="Consolas"/>
              </a:rPr>
              <a:t>aka.ms/remote-mcp</a:t>
            </a:r>
          </a:p>
          <a:p>
            <a:pPr algn="l"/>
            <a:r>
              <a:rPr sz="950" b="0">
                <a:solidFill>
                  <a:srgbClr val="6F7682"/>
                </a:solidFill>
                <a:latin typeface="Segoe UI"/>
              </a:rPr>
              <a:t>azd templates for .NET, Python, TypeScript, Java; APIM and self-hosted variants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0" y="1234440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828031" y="1344168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3262E"/>
                </a:solidFill>
                <a:latin typeface="Segoe UI"/>
              </a:rPr>
              <a:t>The extension itself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B23A1E"/>
                </a:solidFill>
                <a:latin typeface="Consolas"/>
              </a:rPr>
              <a:t>github.com/Azure/azure-functions-mcp-extension</a:t>
            </a:r>
          </a:p>
          <a:p>
            <a:pPr algn="l"/>
            <a:r>
              <a:rPr sz="950" b="0">
                <a:solidFill>
                  <a:srgbClr val="6F7682"/>
                </a:solidFill>
                <a:latin typeface="Segoe UI"/>
              </a:rPr>
              <a:t>Source, host.json options, release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04288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1792" y="2414016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3262E"/>
                </a:solidFill>
                <a:latin typeface="Segoe UI"/>
              </a:rPr>
              <a:t>Tutorial: host an MCP server on Functions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B23A1E"/>
                </a:solidFill>
                <a:latin typeface="Consolas"/>
              </a:rPr>
              <a:t>learn.microsoft.com/azure/azure-functions/functions-mcp-tutorial</a:t>
            </a:r>
          </a:p>
          <a:p>
            <a:pPr algn="l"/>
            <a:r>
              <a:rPr sz="950" b="0">
                <a:solidFill>
                  <a:srgbClr val="6F7682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2304288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FAF7F4"/>
          </a:solidFill>
          <a:ln w="9525">
            <a:solidFill>
              <a:srgbClr val="E9E7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828031" y="2414016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23262E"/>
                </a:solidFill>
                <a:latin typeface="Segoe UI"/>
              </a:rPr>
              <a:t>MCP Apps: the official extension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B23A1E"/>
                </a:solidFill>
                <a:latin typeface="Consolas"/>
              </a:rPr>
              <a:t>blog.modelcontextprotocol.io/posts/2026-01-26-mcp-apps</a:t>
            </a:r>
          </a:p>
          <a:p>
            <a:pPr algn="l"/>
            <a:r>
              <a:rPr sz="950" b="0">
                <a:solidFill>
                  <a:srgbClr val="6F7682"/>
                </a:solidFill>
                <a:latin typeface="Segoe UI"/>
              </a:rPr>
              <a:t>Spec, SDK and client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74136"/>
            <a:ext cx="4023360" cy="960120"/>
          </a:xfrm>
          <a:prstGeom prst="roundRect">
            <a:avLst>
              <a:gd name="adj" fmla="val 6000"/>
            </a:avLst>
          </a:prstGeom>
          <a:solidFill>
            <a:srgbClr val="232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1792" y="3483864"/>
            <a:ext cx="3703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1">
                <a:solidFill>
                  <a:srgbClr val="F5B08A"/>
                </a:solidFill>
                <a:latin typeface="Segoe UI"/>
              </a:rPr>
              <a:t>Today's demo kit</a:t>
            </a:r>
          </a:p>
          <a:p>
            <a:pPr algn="l">
              <a:spcAft>
                <a:spcPts val="100"/>
              </a:spcAft>
            </a:pPr>
            <a:r>
              <a:rPr sz="950" b="1">
                <a:solidFill>
                  <a:srgbClr val="FBF4EC"/>
                </a:solidFill>
                <a:latin typeface="Consolas"/>
              </a:rPr>
              <a:t>github.com/bakionur/azure-functions-mcp-cdc</a:t>
            </a:r>
          </a:p>
          <a:p>
            <a:pPr algn="l"/>
            <a:r>
              <a:rPr sz="950" b="0">
                <a:solidFill>
                  <a:srgbClr val="C9CDD6"/>
                </a:solidFill>
                <a:latin typeface="Segoe UI"/>
              </a:rPr>
              <a:t>Four servers, Bicep, scripts. Clone it and azd up</a:t>
            </a:r>
          </a:p>
        </p:txBody>
      </p:sp>
      <p:pic>
        <p:nvPicPr>
          <p:cNvPr id="18" name="Picture 17" descr="QR code: demo code on GitHub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10128"/>
            <a:ext cx="933319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97880" y="35661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5A4A3F"/>
                </a:solidFill>
              </a:rPr>
              <a:t>Scan for the code: four MCP servers on Azure Functions, one azd up.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Danke, Hanau! Questions?</a:t>
            </a:r>
            <a:endParaRPr lang="en-US" sz="3100" dirty="0"/>
          </a:p>
        </p:txBody>
      </p:sp>
      <p:pic>
        <p:nvPicPr>
          <p:cNvPr id="7" name="Image 1" descr="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24912"/>
            <a:ext cx="822960" cy="502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9077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Onur Okutucu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57200" y="3255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 MVP (Azure &amp; AI Foundry) · MCT · CTO, Collabix AI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457200" y="3703320"/>
            <a:ext cx="379476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LinkedIn: linkedin.com/in/bakionur</a:t>
            </a:r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Code: github.com/bakionur/azure-functions-mcp-cdc</a:t>
            </a:r>
            <a:pPr indent="0" marL="0">
              <a:spcAft>
                <a:spcPts val="600"/>
              </a:spcAft>
              <a:buNone/>
            </a:pP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09360" y="1554480"/>
            <a:ext cx="2148840" cy="23682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pic>
        <p:nvPicPr>
          <p:cNvPr id="12" name="Image 2" descr="Onur Okutuc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2148840" cy="23682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0" y="4690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cdc-germany.de</a:t>
            </a:r>
            <a:endParaRPr lang="en-US" sz="1000" dirty="0"/>
          </a:p>
        </p:txBody>
      </p:sp>
      <p:pic>
        <p:nvPicPr>
          <p:cNvPr id="14" name="Image 3" descr="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  <p:pic>
        <p:nvPicPr>
          <p:cNvPr id="15" name="Picture 14" descr="QR code: LinkedIn profil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968" y="3611880"/>
            <a:ext cx="951369" cy="1078992"/>
          </a:xfrm>
          <a:prstGeom prst="rect">
            <a:avLst/>
          </a:prstGeom>
        </p:spPr>
      </p:pic>
      <p:pic>
        <p:nvPicPr>
          <p:cNvPr id="16" name="Picture 15" descr="QR code: demo code on GitHu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3611880"/>
            <a:ext cx="917763" cy="10789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DC-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420624" cy="42062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32688" y="329184"/>
            <a:ext cx="2926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 </a:t>
            </a:r>
            <a:pPr indent="0" marL="0">
              <a:buNone/>
            </a:pPr>
            <a:r>
              <a:rPr lang="en-US" sz="1500" b="1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Germany</a:t>
            </a:r>
            <a:pPr indent="0" marL="0">
              <a:buNone/>
            </a:pPr>
            <a:r>
              <a:rPr lang="en-US" sz="15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2026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4846320" y="329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Sept - 01 Oct 2026 · Congress Park Hanau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0" y="1024128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E157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0" y="12618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6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big thank you to our sponsors!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208483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 L A T I N U M</a:t>
            </a:r>
            <a:endParaRPr lang="en-US" sz="1100" dirty="0"/>
          </a:p>
        </p:txBody>
      </p:sp>
      <p:pic>
        <p:nvPicPr>
          <p:cNvPr id="8" name="Image 1" descr="CodeTwo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2414016"/>
            <a:ext cx="1965960" cy="728133"/>
          </a:xfrm>
          <a:prstGeom prst="rect">
            <a:avLst/>
          </a:prstGeom>
        </p:spPr>
      </p:pic>
      <p:pic>
        <p:nvPicPr>
          <p:cNvPr id="9" name="Image 2" descr="Medialine Group log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312" y="2414016"/>
            <a:ext cx="1965960" cy="728133"/>
          </a:xfrm>
          <a:prstGeom prst="rect">
            <a:avLst/>
          </a:prstGeom>
        </p:spPr>
      </p:pic>
      <p:pic>
        <p:nvPicPr>
          <p:cNvPr id="10" name="Image 3" descr="ProLion log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2414016"/>
            <a:ext cx="1965960" cy="728133"/>
          </a:xfrm>
          <a:prstGeom prst="rect">
            <a:avLst/>
          </a:prstGeom>
        </p:spPr>
      </p:pic>
      <p:pic>
        <p:nvPicPr>
          <p:cNvPr id="11" name="Image 4" descr="Lenovo log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2414016"/>
            <a:ext cx="1965960" cy="7281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0" y="34015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 O L D</a:t>
            </a:r>
            <a:endParaRPr lang="en-US" sz="1100" dirty="0"/>
          </a:p>
        </p:txBody>
      </p:sp>
      <p:pic>
        <p:nvPicPr>
          <p:cNvPr id="13" name="Image 5" descr="Arrow logo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" y="3730752"/>
            <a:ext cx="1307592" cy="484293"/>
          </a:xfrm>
          <a:prstGeom prst="rect">
            <a:avLst/>
          </a:prstGeom>
        </p:spPr>
      </p:pic>
      <p:pic>
        <p:nvPicPr>
          <p:cNvPr id="14" name="Image 6" descr="bluechip logo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3730752"/>
            <a:ext cx="1307592" cy="484293"/>
          </a:xfrm>
          <a:prstGeom prst="rect">
            <a:avLst/>
          </a:prstGeom>
        </p:spPr>
      </p:pic>
      <p:pic>
        <p:nvPicPr>
          <p:cNvPr id="15" name="Image 7" descr="xees logo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91256" y="3730752"/>
            <a:ext cx="1307592" cy="484293"/>
          </a:xfrm>
          <a:prstGeom prst="rect">
            <a:avLst/>
          </a:prstGeom>
        </p:spPr>
      </p:pic>
      <p:pic>
        <p:nvPicPr>
          <p:cNvPr id="16" name="Image 8" descr="SVA logo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152" y="3730752"/>
            <a:ext cx="1307592" cy="484293"/>
          </a:xfrm>
          <a:prstGeom prst="rect">
            <a:avLst/>
          </a:prstGeom>
        </p:spPr>
      </p:pic>
      <p:pic>
        <p:nvPicPr>
          <p:cNvPr id="17" name="Image 9" descr="Thomas-Krenn logo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9048" y="3730752"/>
            <a:ext cx="1307592" cy="484293"/>
          </a:xfrm>
          <a:prstGeom prst="rect">
            <a:avLst/>
          </a:prstGeom>
        </p:spPr>
      </p:pic>
      <p:pic>
        <p:nvPicPr>
          <p:cNvPr id="18" name="Image 10" descr="Wortmann (terra) logo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52944" y="3730752"/>
            <a:ext cx="1307592" cy="484293"/>
          </a:xfrm>
          <a:prstGeom prst="rect">
            <a:avLst/>
          </a:prstGeom>
        </p:spPr>
      </p:pic>
      <p:sp>
        <p:nvSpPr>
          <p:cNvPr id="19" name="Text 6"/>
          <p:cNvSpPr/>
          <p:nvPr/>
        </p:nvSpPr>
        <p:spPr>
          <a:xfrm>
            <a:off x="0" y="4645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F76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cdc-germany.de · 30 September - 01 October 2026 · Congress Park Hanau</a:t>
            </a:r>
            <a:endParaRPr lang="en-US" sz="1000" dirty="0"/>
          </a:p>
        </p:txBody>
      </p:sp>
      <p:pic>
        <p:nvPicPr>
          <p:cNvPr id="20" name="Image 11" descr="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5006340"/>
            <a:ext cx="914400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External MCP Servers with Azure Functions</dc:title>
  <dc:subject/>
  <dc:creator>CDC Germany 2026</dc:creator>
  <cp:lastModifiedBy>CDC Germany 2026</cp:lastModifiedBy>
  <cp:revision>1</cp:revision>
  <dcterms:created xsi:type="dcterms:W3CDTF">2026-09-15T09:49:04Z</dcterms:created>
  <dcterms:modified xsi:type="dcterms:W3CDTF">2026-09-15T09:49:04Z</dcterms:modified>
</cp:coreProperties>
</file>